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Dubai" panose="020B0503030403030204" pitchFamily="34" charset="-78"/>
      <p:regular r:id="rId10"/>
      <p:bold r:id="rId11"/>
    </p:embeddedFont>
    <p:embeddedFont>
      <p:font typeface="HK Grotesk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4622" autoAdjust="0"/>
  </p:normalViewPr>
  <p:slideViewPr>
    <p:cSldViewPr>
      <p:cViewPr>
        <p:scale>
          <a:sx n="50" d="100"/>
          <a:sy n="50" d="100"/>
        </p:scale>
        <p:origin x="725"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
        <p:nvSpPr>
          <p:cNvPr id="2" name="TextBox 2"/>
          <p:cNvSpPr txBox="1"/>
          <p:nvPr/>
        </p:nvSpPr>
        <p:spPr>
          <a:xfrm>
            <a:off x="2903935" y="565150"/>
            <a:ext cx="11158445" cy="993775"/>
          </a:xfrm>
          <a:prstGeom prst="rect">
            <a:avLst/>
          </a:prstGeom>
        </p:spPr>
        <p:txBody>
          <a:bodyPr lIns="0" tIns="0" rIns="0" bIns="0" rtlCol="0" anchor="t">
            <a:spAutoFit/>
          </a:bodyPr>
          <a:lstStyle/>
          <a:p>
            <a:pPr marL="0" lvl="0" indent="0" algn="ctr">
              <a:lnSpc>
                <a:spcPts val="7699"/>
              </a:lnSpc>
            </a:pPr>
            <a:r>
              <a:rPr lang="en-US" sz="6999" b="1">
                <a:solidFill>
                  <a:srgbClr val="B04B47"/>
                </a:solidFill>
                <a:latin typeface="HK Grotesk Bold"/>
                <a:ea typeface="HK Grotesk Bold"/>
                <a:cs typeface="HK Grotesk Bold"/>
                <a:sym typeface="HK Grotesk Bold"/>
              </a:rPr>
              <a:t>K</a:t>
            </a:r>
            <a:r>
              <a:rPr lang="en-US" sz="6999" b="1">
                <a:solidFill>
                  <a:srgbClr val="F4F6FC"/>
                </a:solidFill>
                <a:latin typeface="HK Grotesk Bold"/>
                <a:ea typeface="HK Grotesk Bold"/>
                <a:cs typeface="HK Grotesk Bold"/>
                <a:sym typeface="HK Grotesk Bold"/>
              </a:rPr>
              <a:t>REATIVE </a:t>
            </a:r>
            <a:r>
              <a:rPr lang="en-US" sz="6999" b="1">
                <a:solidFill>
                  <a:srgbClr val="B04B47"/>
                </a:solidFill>
                <a:latin typeface="HK Grotesk Bold"/>
                <a:ea typeface="HK Grotesk Bold"/>
                <a:cs typeface="HK Grotesk Bold"/>
                <a:sym typeface="HK Grotesk Bold"/>
              </a:rPr>
              <a:t>G</a:t>
            </a:r>
            <a:r>
              <a:rPr lang="en-US" sz="6999" b="1">
                <a:solidFill>
                  <a:srgbClr val="F4F6FC"/>
                </a:solidFill>
                <a:latin typeface="HK Grotesk Bold"/>
                <a:ea typeface="HK Grotesk Bold"/>
                <a:cs typeface="HK Grotesk Bold"/>
                <a:sym typeface="HK Grotesk Bold"/>
              </a:rPr>
              <a:t>ENESIS 2026</a:t>
            </a:r>
          </a:p>
        </p:txBody>
      </p:sp>
      <p:grpSp>
        <p:nvGrpSpPr>
          <p:cNvPr id="3" name="Group 3"/>
          <p:cNvGrpSpPr/>
          <p:nvPr/>
        </p:nvGrpSpPr>
        <p:grpSpPr>
          <a:xfrm>
            <a:off x="11891688" y="3122391"/>
            <a:ext cx="5661778" cy="5044403"/>
            <a:chOff x="0" y="0"/>
            <a:chExt cx="912277" cy="812800"/>
          </a:xfrm>
        </p:grpSpPr>
        <p:sp>
          <p:nvSpPr>
            <p:cNvPr id="4" name="Freeform 4"/>
            <p:cNvSpPr/>
            <p:nvPr/>
          </p:nvSpPr>
          <p:spPr>
            <a:xfrm>
              <a:off x="0" y="0"/>
              <a:ext cx="912277" cy="812800"/>
            </a:xfrm>
            <a:custGeom>
              <a:avLst/>
              <a:gdLst/>
              <a:ahLst/>
              <a:cxnLst/>
              <a:rect l="l" t="t" r="r" b="b"/>
              <a:pathLst>
                <a:path w="912277" h="812800">
                  <a:moveTo>
                    <a:pt x="0" y="0"/>
                  </a:moveTo>
                  <a:lnTo>
                    <a:pt x="912277" y="0"/>
                  </a:lnTo>
                  <a:lnTo>
                    <a:pt x="912277" y="812800"/>
                  </a:lnTo>
                  <a:lnTo>
                    <a:pt x="0" y="812800"/>
                  </a:lnTo>
                  <a:close/>
                </a:path>
              </a:pathLst>
            </a:custGeom>
            <a:blipFill>
              <a:blip r:embed="rId2"/>
              <a:stretch>
                <a:fillRect l="-4086" r="-4086"/>
              </a:stretch>
            </a:blipFill>
          </p:spPr>
        </p:sp>
      </p:grpSp>
      <p:sp>
        <p:nvSpPr>
          <p:cNvPr id="6" name="TextBox 6"/>
          <p:cNvSpPr txBox="1"/>
          <p:nvPr/>
        </p:nvSpPr>
        <p:spPr>
          <a:xfrm>
            <a:off x="1219200" y="2790034"/>
            <a:ext cx="11963400" cy="3398366"/>
          </a:xfrm>
          <a:prstGeom prst="rect">
            <a:avLst/>
          </a:prstGeom>
        </p:spPr>
        <p:txBody>
          <a:bodyPr wrap="square" lIns="0" tIns="0" rIns="0" bIns="0" rtlCol="0" anchor="t">
            <a:spAutoFit/>
          </a:bodyPr>
          <a:lstStyle/>
          <a:p>
            <a:pPr marL="431798" lvl="1" algn="l">
              <a:lnSpc>
                <a:spcPts val="4399"/>
              </a:lnSpc>
            </a:pPr>
            <a:r>
              <a:rPr lang="en-US" sz="3999" b="1" dirty="0">
                <a:solidFill>
                  <a:srgbClr val="FFFFFF"/>
                </a:solidFill>
                <a:latin typeface="HK Grotesk Bold"/>
                <a:ea typeface="HK Grotesk Bold"/>
                <a:cs typeface="HK Grotesk Bold"/>
                <a:sym typeface="HK Grotesk Bold"/>
              </a:rPr>
              <a:t>PROBLEM STATEMENT TITLE</a:t>
            </a:r>
          </a:p>
          <a:p>
            <a:pPr marL="431798" lvl="1" algn="l">
              <a:lnSpc>
                <a:spcPts val="4399"/>
              </a:lnSpc>
            </a:pPr>
            <a:endParaRPr lang="en-US" sz="3999" b="1" dirty="0">
              <a:solidFill>
                <a:srgbClr val="FFFFFF"/>
              </a:solidFill>
              <a:latin typeface="HK Grotesk Bold"/>
              <a:ea typeface="HK Grotesk Bold"/>
              <a:cs typeface="HK Grotesk Bold"/>
              <a:sym typeface="HK Grotesk Bold"/>
            </a:endParaRPr>
          </a:p>
          <a:p>
            <a:pPr marL="431798" lvl="1">
              <a:lnSpc>
                <a:spcPts val="4399"/>
              </a:lnSpc>
            </a:pPr>
            <a:r>
              <a:rPr lang="en-US" sz="4000" dirty="0">
                <a:solidFill>
                  <a:schemeClr val="bg2"/>
                </a:solidFill>
                <a:latin typeface="Dubai" panose="020B0503030403030204" pitchFamily="34" charset="-78"/>
                <a:ea typeface="Alata"/>
                <a:cs typeface="Dubai" panose="020B0503030403030204" pitchFamily="34" charset="-78"/>
              </a:rPr>
              <a:t>Domain Name : Health Care Technology </a:t>
            </a:r>
            <a:br>
              <a:rPr lang="en-US" sz="4000" dirty="0">
                <a:solidFill>
                  <a:schemeClr val="bg2"/>
                </a:solidFill>
                <a:latin typeface="Dubai" panose="020B0503030403030204" pitchFamily="34" charset="-78"/>
                <a:ea typeface="Alata"/>
                <a:cs typeface="Dubai" panose="020B0503030403030204" pitchFamily="34" charset="-78"/>
              </a:rPr>
            </a:br>
            <a:r>
              <a:rPr lang="en-US" sz="4000" dirty="0">
                <a:solidFill>
                  <a:schemeClr val="bg2"/>
                </a:solidFill>
                <a:latin typeface="Dubai" panose="020B0503030403030204" pitchFamily="34" charset="-78"/>
                <a:ea typeface="Alata"/>
                <a:cs typeface="Dubai" panose="020B0503030403030204" pitchFamily="34" charset="-78"/>
              </a:rPr>
              <a:t>Problem Statement : Simplifying Medical Lab Reports </a:t>
            </a:r>
            <a:br>
              <a:rPr lang="en-US" sz="4000" dirty="0">
                <a:solidFill>
                  <a:schemeClr val="bg2"/>
                </a:solidFill>
                <a:latin typeface="Dubai" panose="020B0503030403030204" pitchFamily="34" charset="-78"/>
                <a:ea typeface="Alata"/>
                <a:cs typeface="Dubai" panose="020B0503030403030204" pitchFamily="34" charset="-78"/>
              </a:rPr>
            </a:br>
            <a:r>
              <a:rPr lang="en-US" sz="4000" dirty="0">
                <a:solidFill>
                  <a:schemeClr val="bg2"/>
                </a:solidFill>
                <a:latin typeface="Dubai" panose="020B0503030403030204" pitchFamily="34" charset="-78"/>
                <a:ea typeface="Alata"/>
                <a:cs typeface="Dubai" panose="020B0503030403030204" pitchFamily="34" charset="-78"/>
              </a:rPr>
              <a:t>Team ID : KGH216 </a:t>
            </a:r>
            <a:br>
              <a:rPr lang="en-US" sz="4000" dirty="0">
                <a:solidFill>
                  <a:schemeClr val="bg2"/>
                </a:solidFill>
                <a:latin typeface="Dubai" panose="020B0503030403030204" pitchFamily="34" charset="-78"/>
                <a:ea typeface="Alata"/>
                <a:cs typeface="Dubai" panose="020B0503030403030204" pitchFamily="34" charset="-78"/>
              </a:rPr>
            </a:br>
            <a:r>
              <a:rPr lang="en-US" sz="4000" dirty="0">
                <a:solidFill>
                  <a:schemeClr val="bg2"/>
                </a:solidFill>
                <a:latin typeface="Dubai" panose="020B0503030403030204" pitchFamily="34" charset="-78"/>
                <a:ea typeface="Alata"/>
                <a:cs typeface="Dubai" panose="020B0503030403030204" pitchFamily="34" charset="-78"/>
              </a:rPr>
              <a:t>Team Name : TECH TITANS</a:t>
            </a:r>
            <a:endParaRPr lang="en-US" sz="3999" b="1" dirty="0">
              <a:solidFill>
                <a:schemeClr val="bg2"/>
              </a:solidFill>
              <a:latin typeface="HK Grotesk Bold"/>
              <a:ea typeface="HK Grotesk Bold"/>
              <a:cs typeface="HK Grotesk Bold"/>
              <a:sym typeface="HK Grotesk Bold"/>
            </a:endParaRPr>
          </a:p>
        </p:txBody>
      </p:sp>
      <p:sp>
        <p:nvSpPr>
          <p:cNvPr id="7" name="Freeform 7"/>
          <p:cNvSpPr/>
          <p:nvPr/>
        </p:nvSpPr>
        <p:spPr>
          <a:xfrm>
            <a:off x="-1200296" y="1331401"/>
            <a:ext cx="3062016" cy="2917266"/>
          </a:xfrm>
          <a:custGeom>
            <a:avLst/>
            <a:gdLst/>
            <a:ahLst/>
            <a:cxnLst/>
            <a:rect l="l" t="t" r="r" b="b"/>
            <a:pathLst>
              <a:path w="3062016" h="2917266">
                <a:moveTo>
                  <a:pt x="0" y="0"/>
                </a:moveTo>
                <a:lnTo>
                  <a:pt x="3062015" y="0"/>
                </a:lnTo>
                <a:lnTo>
                  <a:pt x="3062015" y="2917266"/>
                </a:lnTo>
                <a:lnTo>
                  <a:pt x="0" y="29172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8" name="Group 8"/>
          <p:cNvGrpSpPr/>
          <p:nvPr/>
        </p:nvGrpSpPr>
        <p:grpSpPr>
          <a:xfrm>
            <a:off x="15041993" y="441608"/>
            <a:ext cx="1317891" cy="1060450"/>
            <a:chOff x="0" y="0"/>
            <a:chExt cx="912277" cy="734070"/>
          </a:xfrm>
        </p:grpSpPr>
        <p:sp>
          <p:nvSpPr>
            <p:cNvPr id="9" name="Freeform 9"/>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2"/>
              <a:stretch>
                <a:fillRect t="-1179" b="-1179"/>
              </a:stretch>
            </a:blipFill>
          </p:spPr>
        </p:sp>
      </p:grpSp>
      <p:sp>
        <p:nvSpPr>
          <p:cNvPr id="10" name="Freeform 10"/>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
        <p:nvSpPr>
          <p:cNvPr id="11" name="TextBox 11"/>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CP2</a:t>
            </a: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
        <p:nvSpPr>
          <p:cNvPr id="2" name="Freeform 2"/>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5041993" y="441608"/>
            <a:ext cx="1317891" cy="1060450"/>
            <a:chOff x="0" y="0"/>
            <a:chExt cx="912277" cy="734070"/>
          </a:xfrm>
        </p:grpSpPr>
        <p:sp>
          <p:nvSpPr>
            <p:cNvPr id="4" name="Freeform 4"/>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4"/>
              <a:stretch>
                <a:fillRect t="-1179" b="-1179"/>
              </a:stretch>
            </a:blipFill>
          </p:spPr>
        </p:sp>
      </p:grpSp>
      <p:sp>
        <p:nvSpPr>
          <p:cNvPr id="5" name="Freeform 5"/>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
        <p:nvSpPr>
          <p:cNvPr id="7" name="TextBox 7"/>
          <p:cNvSpPr txBox="1"/>
          <p:nvPr/>
        </p:nvSpPr>
        <p:spPr>
          <a:xfrm>
            <a:off x="3733800" y="1866900"/>
            <a:ext cx="13468680" cy="6219523"/>
          </a:xfrm>
          <a:prstGeom prst="rect">
            <a:avLst/>
          </a:prstGeom>
        </p:spPr>
        <p:txBody>
          <a:bodyPr wrap="square" lIns="0" tIns="0" rIns="0" bIns="0" rtlCol="0" anchor="t">
            <a:spAutoFit/>
          </a:bodyPr>
          <a:lstStyle/>
          <a:p>
            <a:pPr algn="l">
              <a:lnSpc>
                <a:spcPts val="4399"/>
              </a:lnSpc>
            </a:pPr>
            <a:r>
              <a:rPr lang="en-US" sz="3600" b="1" dirty="0">
                <a:solidFill>
                  <a:srgbClr val="FFFFFF"/>
                </a:solidFill>
                <a:latin typeface="+mj-lt"/>
                <a:ea typeface="HK Grotesk Bold"/>
                <a:cs typeface="HK Grotesk Bold"/>
                <a:sym typeface="HK Grotesk Bold"/>
              </a:rPr>
              <a:t>Problem Overview  </a:t>
            </a:r>
            <a:endParaRPr lang="en-US" sz="2400" b="1" dirty="0">
              <a:solidFill>
                <a:srgbClr val="FFFFFF"/>
              </a:solidFill>
              <a:latin typeface="+mj-lt"/>
              <a:ea typeface="HK Grotesk Bold"/>
              <a:cs typeface="HK Grotesk Bold"/>
              <a:sym typeface="HK Grotesk Bold"/>
            </a:endParaRPr>
          </a:p>
          <a:p>
            <a:pPr algn="l">
              <a:lnSpc>
                <a:spcPts val="4399"/>
              </a:lnSpc>
            </a:pPr>
            <a:endParaRPr lang="en-US" sz="2400" b="1" dirty="0">
              <a:solidFill>
                <a:srgbClr val="FFFFFF"/>
              </a:solidFill>
              <a:latin typeface="+mj-lt"/>
              <a:ea typeface="HK Grotesk Bold"/>
              <a:cs typeface="HK Grotesk Bold"/>
              <a:sym typeface="HK Grotesk Bold"/>
            </a:endParaRPr>
          </a:p>
          <a:p>
            <a:pPr marL="431798" lvl="1" algn="l">
              <a:lnSpc>
                <a:spcPts val="4399"/>
              </a:lnSpc>
            </a:pPr>
            <a:r>
              <a:rPr lang="en-US" sz="2800" b="1" dirty="0">
                <a:solidFill>
                  <a:srgbClr val="FFFFFF"/>
                </a:solidFill>
                <a:ea typeface="HK Grotesk Bold"/>
                <a:cs typeface="HK Grotesk Bold"/>
                <a:sym typeface="HK Grotesk Bold"/>
              </a:rPr>
              <a:t>Brief description of the problem :</a:t>
            </a:r>
          </a:p>
          <a:p>
            <a:pPr marL="431798" lvl="1" algn="l">
              <a:lnSpc>
                <a:spcPts val="4399"/>
              </a:lnSpc>
            </a:pPr>
            <a:r>
              <a:rPr lang="en-US" sz="2800" b="1" dirty="0">
                <a:solidFill>
                  <a:srgbClr val="FFFFFF"/>
                </a:solidFill>
                <a:ea typeface="HK Grotesk Bold"/>
                <a:cs typeface="HK Grotesk Bold"/>
                <a:sym typeface="HK Grotesk Bold"/>
              </a:rPr>
              <a:t>     </a:t>
            </a:r>
            <a:r>
              <a:rPr lang="en-US" sz="2800" dirty="0">
                <a:solidFill>
                  <a:srgbClr val="FFFFFF"/>
                </a:solidFill>
                <a:ea typeface="HK Grotesk Bold"/>
                <a:cs typeface="HK Grotesk Bold"/>
                <a:sym typeface="HK Grotesk Bold"/>
              </a:rPr>
              <a:t>Many patients find it difficult to understand laboratory test reports because they contain complex medical terms and numerical values. This often leads to confusion and anxiety about their health condition.</a:t>
            </a:r>
          </a:p>
          <a:p>
            <a:pPr marL="431798" lvl="1" algn="l">
              <a:lnSpc>
                <a:spcPts val="4399"/>
              </a:lnSpc>
            </a:pPr>
            <a:endParaRPr lang="en-US" sz="2800" dirty="0">
              <a:solidFill>
                <a:srgbClr val="FFFFFF"/>
              </a:solidFill>
              <a:ea typeface="HK Grotesk Bold"/>
              <a:cs typeface="HK Grotesk Bold"/>
              <a:sym typeface="HK Grotesk Bold"/>
            </a:endParaRPr>
          </a:p>
          <a:p>
            <a:pPr marL="431798" lvl="1" algn="l">
              <a:lnSpc>
                <a:spcPts val="4399"/>
              </a:lnSpc>
            </a:pPr>
            <a:r>
              <a:rPr lang="en-US" sz="2800" b="1" dirty="0">
                <a:solidFill>
                  <a:srgbClr val="FFFFFF"/>
                </a:solidFill>
                <a:ea typeface="HK Grotesk Bold"/>
                <a:cs typeface="HK Grotesk Bold"/>
                <a:sym typeface="HK Grotesk Bold"/>
              </a:rPr>
              <a:t>Target users or beneficiaries :</a:t>
            </a:r>
          </a:p>
          <a:p>
            <a:pPr marL="431798" lvl="1">
              <a:lnSpc>
                <a:spcPts val="4399"/>
              </a:lnSpc>
            </a:pPr>
            <a:r>
              <a:rPr lang="en-US" sz="2800" b="1" dirty="0">
                <a:solidFill>
                  <a:srgbClr val="FFFFFF"/>
                </a:solidFill>
                <a:ea typeface="HK Grotesk Bold"/>
                <a:cs typeface="HK Grotesk Bold"/>
                <a:sym typeface="HK Grotesk Bold"/>
              </a:rPr>
              <a:t>       </a:t>
            </a:r>
            <a:r>
              <a:rPr lang="en-US" sz="2800" dirty="0">
                <a:solidFill>
                  <a:srgbClr val="FFFFFF"/>
                </a:solidFill>
                <a:ea typeface="HK Grotesk Bold"/>
                <a:cs typeface="HK Grotesk Bold"/>
                <a:sym typeface="HK Grotesk Bold"/>
              </a:rPr>
              <a:t>Patients, individuals without medical knowledge, and junior healthcare professionals who need quick and simple interpretation </a:t>
            </a:r>
            <a:r>
              <a:rPr lang="en-US" sz="2800" dirty="0">
                <a:solidFill>
                  <a:srgbClr val="FFFFFF"/>
                </a:solidFill>
                <a:latin typeface="+mj-lt"/>
                <a:ea typeface="HK Grotesk Bold"/>
                <a:cs typeface="HK Grotesk Bold"/>
                <a:sym typeface="HK Grotesk Bold"/>
              </a:rPr>
              <a:t>of lab reports</a:t>
            </a:r>
            <a:r>
              <a:rPr lang="en-US" sz="2800" b="1" dirty="0">
                <a:solidFill>
                  <a:srgbClr val="FFFFFF"/>
                </a:solidFill>
                <a:latin typeface="+mj-lt"/>
                <a:ea typeface="HK Grotesk Bold"/>
                <a:cs typeface="HK Grotesk Bold"/>
                <a:sym typeface="HK Grotesk Bold"/>
              </a:rPr>
              <a:t>.</a:t>
            </a:r>
          </a:p>
          <a:p>
            <a:pPr algn="l">
              <a:lnSpc>
                <a:spcPts val="4399"/>
              </a:lnSpc>
            </a:pPr>
            <a:endParaRPr lang="en-US" sz="3999" b="1" dirty="0">
              <a:solidFill>
                <a:srgbClr val="FFFFFF"/>
              </a:solidFill>
              <a:latin typeface="HK Grotesk Bold"/>
              <a:ea typeface="HK Grotesk Bold"/>
              <a:cs typeface="HK Grotesk Bold"/>
              <a:sym typeface="HK Grotesk Bold"/>
            </a:endParaRPr>
          </a:p>
        </p:txBody>
      </p:sp>
      <p:sp>
        <p:nvSpPr>
          <p:cNvPr id="8" name="TextBox 8"/>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CP2</a:t>
            </a:r>
          </a:p>
        </p:txBody>
      </p:sp>
    </p:spTree>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
        <p:nvSpPr>
          <p:cNvPr id="3" name="Freeform 3"/>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CP2</a:t>
            </a:r>
          </a:p>
        </p:txBody>
      </p:sp>
      <p:grpSp>
        <p:nvGrpSpPr>
          <p:cNvPr id="6" name="Group 6"/>
          <p:cNvGrpSpPr/>
          <p:nvPr/>
        </p:nvGrpSpPr>
        <p:grpSpPr>
          <a:xfrm>
            <a:off x="15041993" y="441608"/>
            <a:ext cx="1317891" cy="1060450"/>
            <a:chOff x="0" y="0"/>
            <a:chExt cx="912277" cy="734070"/>
          </a:xfrm>
        </p:grpSpPr>
        <p:sp>
          <p:nvSpPr>
            <p:cNvPr id="7" name="Freeform 7"/>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4"/>
              <a:stretch>
                <a:fillRect t="-1179" b="-1179"/>
              </a:stretch>
            </a:blipFill>
          </p:spPr>
        </p:sp>
      </p:grpSp>
      <p:sp>
        <p:nvSpPr>
          <p:cNvPr id="8" name="Freeform 8"/>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
        <p:nvSpPr>
          <p:cNvPr id="12" name="TextBox 11">
            <a:extLst>
              <a:ext uri="{FF2B5EF4-FFF2-40B4-BE49-F238E27FC236}">
                <a16:creationId xmlns:a16="http://schemas.microsoft.com/office/drawing/2014/main" id="{8CDFD751-D541-2EF8-0A3F-7A98FAA01AED}"/>
              </a:ext>
            </a:extLst>
          </p:cNvPr>
          <p:cNvSpPr txBox="1"/>
          <p:nvPr/>
        </p:nvSpPr>
        <p:spPr>
          <a:xfrm>
            <a:off x="4090640" y="1714500"/>
            <a:ext cx="10106719" cy="6432530"/>
          </a:xfrm>
          <a:prstGeom prst="rect">
            <a:avLst/>
          </a:prstGeom>
          <a:noFill/>
        </p:spPr>
        <p:txBody>
          <a:bodyPr wrap="square">
            <a:spAutoFit/>
          </a:bodyPr>
          <a:lstStyle/>
          <a:p>
            <a:r>
              <a:rPr lang="en-US" sz="2800" b="1" dirty="0">
                <a:solidFill>
                  <a:schemeClr val="bg1"/>
                </a:solidFill>
                <a:latin typeface="+mj-lt"/>
              </a:rPr>
              <a:t>Solution Overview</a:t>
            </a:r>
          </a:p>
          <a:p>
            <a:endParaRPr lang="en-US" sz="2800" dirty="0">
              <a:solidFill>
                <a:schemeClr val="bg1"/>
              </a:solidFill>
              <a:latin typeface="+mj-lt"/>
            </a:endParaRPr>
          </a:p>
          <a:p>
            <a:r>
              <a:rPr lang="en-US" sz="2800" b="1" dirty="0">
                <a:solidFill>
                  <a:schemeClr val="bg1"/>
                </a:solidFill>
                <a:latin typeface="+mj-lt"/>
              </a:rPr>
              <a:t>Short Explanation:</a:t>
            </a:r>
          </a:p>
          <a:p>
            <a:endParaRPr lang="en-US" sz="2800" dirty="0">
              <a:solidFill>
                <a:schemeClr val="bg1"/>
              </a:solidFill>
              <a:latin typeface="+mj-lt"/>
            </a:endParaRPr>
          </a:p>
          <a:p>
            <a:pPr algn="just"/>
            <a:r>
              <a:rPr lang="en-US" sz="2400" dirty="0">
                <a:solidFill>
                  <a:schemeClr val="bg1"/>
                </a:solidFill>
                <a:latin typeface="+mj-lt"/>
              </a:rPr>
              <a:t>CURALENS is an AI-assisted laboratory report interpretation system that helps doctors quickly analyze lab reports and generate simplified explanations for patients. The system processes laboratory reports, extracts medical values, and provides insights based on verified medical datasets.</a:t>
            </a:r>
          </a:p>
          <a:p>
            <a:endParaRPr lang="en-US" sz="2800" dirty="0">
              <a:solidFill>
                <a:schemeClr val="bg1"/>
              </a:solidFill>
              <a:latin typeface="+mj-lt"/>
            </a:endParaRPr>
          </a:p>
          <a:p>
            <a:endParaRPr lang="en-US" sz="2800" b="1" dirty="0">
              <a:solidFill>
                <a:schemeClr val="bg1"/>
              </a:solidFill>
              <a:latin typeface="+mj-lt"/>
            </a:endParaRPr>
          </a:p>
          <a:p>
            <a:r>
              <a:rPr lang="en-US" sz="2800" b="1" dirty="0">
                <a:solidFill>
                  <a:schemeClr val="bg1"/>
                </a:solidFill>
                <a:latin typeface="+mj-lt"/>
              </a:rPr>
              <a:t>Key Features:</a:t>
            </a:r>
          </a:p>
          <a:p>
            <a:pPr marL="457200" indent="-457200" algn="just">
              <a:buFont typeface="Arial" panose="020B0604020202020204" pitchFamily="34" charset="0"/>
              <a:buChar char="•"/>
            </a:pPr>
            <a:r>
              <a:rPr lang="en-US" sz="2400" dirty="0">
                <a:solidFill>
                  <a:schemeClr val="bg1"/>
                </a:solidFill>
                <a:latin typeface="+mj-lt"/>
              </a:rPr>
              <a:t>Automatic lab report reading using OCR</a:t>
            </a:r>
          </a:p>
          <a:p>
            <a:pPr marL="457200" indent="-457200" algn="just">
              <a:buFont typeface="Arial" panose="020B0604020202020204" pitchFamily="34" charset="0"/>
              <a:buChar char="•"/>
            </a:pPr>
            <a:r>
              <a:rPr lang="en-US" sz="2400" dirty="0">
                <a:solidFill>
                  <a:schemeClr val="bg1"/>
                </a:solidFill>
                <a:latin typeface="+mj-lt"/>
              </a:rPr>
              <a:t> AI-assisted analysis of lab values</a:t>
            </a:r>
          </a:p>
          <a:p>
            <a:pPr marL="457200" indent="-457200" algn="just">
              <a:buFont typeface="Arial" panose="020B0604020202020204" pitchFamily="34" charset="0"/>
              <a:buChar char="•"/>
            </a:pPr>
            <a:r>
              <a:rPr lang="en-US" sz="2400" dirty="0">
                <a:solidFill>
                  <a:schemeClr val="bg1"/>
                </a:solidFill>
                <a:latin typeface="+mj-lt"/>
              </a:rPr>
              <a:t> Doctor verification of medical insights</a:t>
            </a:r>
          </a:p>
          <a:p>
            <a:pPr marL="457200" indent="-457200" algn="just">
              <a:buFont typeface="Arial" panose="020B0604020202020204" pitchFamily="34" charset="0"/>
              <a:buChar char="•"/>
            </a:pPr>
            <a:r>
              <a:rPr lang="en-US" sz="2400" dirty="0">
                <a:solidFill>
                  <a:schemeClr val="bg1"/>
                </a:solidFill>
                <a:latin typeface="+mj-lt"/>
              </a:rPr>
              <a:t> Structured medical datasets for accurate analysis</a:t>
            </a:r>
          </a:p>
          <a:p>
            <a:pPr marL="457200" indent="-457200" algn="just">
              <a:buFont typeface="Arial" panose="020B0604020202020204" pitchFamily="34" charset="0"/>
              <a:buChar char="•"/>
            </a:pPr>
            <a:r>
              <a:rPr lang="en-US" sz="2400" dirty="0">
                <a:solidFill>
                  <a:schemeClr val="bg1"/>
                </a:solidFill>
                <a:latin typeface="+mj-lt"/>
              </a:rPr>
              <a:t>Clear explanations that doctors can share with patients</a:t>
            </a:r>
            <a:endParaRPr lang="en-IN" sz="2400" dirty="0">
              <a:solidFill>
                <a:schemeClr val="bg1"/>
              </a:solidFill>
              <a:latin typeface="+mj-lt"/>
            </a:endParaRP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
        <p:nvSpPr>
          <p:cNvPr id="3" name="Freeform 3"/>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4472861" y="1933098"/>
            <a:ext cx="12786439" cy="7912294"/>
          </a:xfrm>
          <a:prstGeom prst="rect">
            <a:avLst/>
          </a:prstGeom>
        </p:spPr>
        <p:txBody>
          <a:bodyPr lIns="0" tIns="0" rIns="0" bIns="0" rtlCol="0" anchor="t">
            <a:spAutoFit/>
          </a:bodyPr>
          <a:lstStyle/>
          <a:p>
            <a:pPr algn="l">
              <a:lnSpc>
                <a:spcPts val="4399"/>
              </a:lnSpc>
            </a:pPr>
            <a:r>
              <a:rPr lang="en-US" sz="2800" b="1" dirty="0">
                <a:solidFill>
                  <a:srgbClr val="FFFFFF"/>
                </a:solidFill>
                <a:ea typeface="HK Grotesk Bold"/>
                <a:cs typeface="HK Grotesk Bold"/>
                <a:sym typeface="HK Grotesk Bold"/>
              </a:rPr>
              <a:t>Prototype Overview</a:t>
            </a:r>
          </a:p>
          <a:p>
            <a:pPr>
              <a:lnSpc>
                <a:spcPts val="4399"/>
              </a:lnSpc>
            </a:pPr>
            <a:r>
              <a:rPr lang="en-US" sz="2400" b="1" dirty="0">
                <a:solidFill>
                  <a:srgbClr val="FFFFFF"/>
                </a:solidFill>
                <a:ea typeface="HK Grotesk Bold"/>
                <a:cs typeface="HK Grotesk Bold"/>
                <a:sym typeface="HK Grotesk Bold"/>
              </a:rPr>
              <a:t>    </a:t>
            </a:r>
            <a:r>
              <a:rPr lang="en-US" sz="2400" dirty="0">
                <a:solidFill>
                  <a:srgbClr val="FFFFFF"/>
                </a:solidFill>
                <a:ea typeface="HK Grotesk Bold"/>
                <a:cs typeface="HK Grotesk Bold"/>
                <a:sym typeface="HK Grotesk Bold"/>
              </a:rPr>
              <a:t>The current prototype of CURALENS demonstrates the basic workflow of the system for analyzing laboratory reports with doctor-supported verification.</a:t>
            </a:r>
          </a:p>
          <a:p>
            <a:pPr>
              <a:lnSpc>
                <a:spcPts val="4399"/>
              </a:lnSpc>
            </a:pPr>
            <a:r>
              <a:rPr lang="en-US" sz="2400" b="1" dirty="0">
                <a:solidFill>
                  <a:srgbClr val="FFFFFF"/>
                </a:solidFill>
                <a:ea typeface="HK Grotesk Bold"/>
                <a:cs typeface="HK Grotesk Bold"/>
                <a:sym typeface="HK Grotesk Bold"/>
              </a:rPr>
              <a:t>Application Interface:</a:t>
            </a:r>
          </a:p>
          <a:p>
            <a:pPr>
              <a:lnSpc>
                <a:spcPts val="4399"/>
              </a:lnSpc>
            </a:pPr>
            <a:r>
              <a:rPr lang="en-US" sz="2400" b="1" dirty="0">
                <a:solidFill>
                  <a:srgbClr val="FFFFFF"/>
                </a:solidFill>
                <a:ea typeface="HK Grotesk Bold"/>
                <a:cs typeface="HK Grotesk Bold"/>
                <a:sym typeface="HK Grotesk Bold"/>
              </a:rPr>
              <a:t>  </a:t>
            </a:r>
            <a:r>
              <a:rPr lang="en-US" sz="2400" dirty="0">
                <a:solidFill>
                  <a:srgbClr val="FFFFFF"/>
                </a:solidFill>
                <a:ea typeface="HK Grotesk Bold"/>
                <a:cs typeface="HK Grotesk Bold"/>
                <a:sym typeface="HK Grotesk Bold"/>
              </a:rPr>
              <a:t>   The prototype includes the main UI screens such as the dashboard, report upload page, and AI analysis page where users can upload reports and view interpreted results.</a:t>
            </a:r>
          </a:p>
          <a:p>
            <a:pPr>
              <a:lnSpc>
                <a:spcPts val="4399"/>
              </a:lnSpc>
            </a:pPr>
            <a:r>
              <a:rPr lang="en-US" sz="2400" b="1" dirty="0">
                <a:solidFill>
                  <a:srgbClr val="FFFFFF"/>
                </a:solidFill>
                <a:ea typeface="HK Grotesk Bold"/>
                <a:cs typeface="HK Grotesk Bold"/>
                <a:sym typeface="HK Grotesk Bold"/>
              </a:rPr>
              <a:t> System Modules Implemented:</a:t>
            </a:r>
          </a:p>
          <a:p>
            <a:pPr>
              <a:lnSpc>
                <a:spcPts val="4399"/>
              </a:lnSpc>
            </a:pPr>
            <a:r>
              <a:rPr lang="en-US" sz="2400" b="1" dirty="0">
                <a:solidFill>
                  <a:srgbClr val="FFFFFF"/>
                </a:solidFill>
                <a:ea typeface="HK Grotesk Bold"/>
                <a:cs typeface="HK Grotesk Bold"/>
                <a:sym typeface="HK Grotesk Bold"/>
              </a:rPr>
              <a:t>        </a:t>
            </a:r>
            <a:r>
              <a:rPr lang="en-US" sz="2400" dirty="0">
                <a:solidFill>
                  <a:srgbClr val="FFFFFF"/>
                </a:solidFill>
                <a:ea typeface="HK Grotesk Bold"/>
                <a:cs typeface="HK Grotesk Bold"/>
                <a:sym typeface="HK Grotesk Bold"/>
              </a:rPr>
              <a:t>Report upload module OCR module to extract text from lab reports AI analysis module to compare values with medical datasets Dashboard to display results and insights Medical Dataset</a:t>
            </a:r>
          </a:p>
          <a:p>
            <a:pPr>
              <a:lnSpc>
                <a:spcPts val="4399"/>
              </a:lnSpc>
            </a:pPr>
            <a:r>
              <a:rPr lang="en-US" sz="2400" dirty="0">
                <a:solidFill>
                  <a:srgbClr val="FFFFFF"/>
                </a:solidFill>
                <a:ea typeface="HK Grotesk Bold"/>
                <a:cs typeface="HK Grotesk Bold"/>
                <a:sym typeface="HK Grotesk Bold"/>
              </a:rPr>
              <a:t> </a:t>
            </a:r>
            <a:r>
              <a:rPr lang="en-US" sz="2400" b="1" dirty="0">
                <a:solidFill>
                  <a:srgbClr val="FFFFFF"/>
                </a:solidFill>
                <a:ea typeface="HK Grotesk Bold"/>
                <a:cs typeface="HK Grotesk Bold"/>
                <a:sym typeface="HK Grotesk Bold"/>
              </a:rPr>
              <a:t>Integration: </a:t>
            </a:r>
          </a:p>
          <a:p>
            <a:pPr>
              <a:lnSpc>
                <a:spcPts val="4399"/>
              </a:lnSpc>
            </a:pPr>
            <a:r>
              <a:rPr lang="en-US" sz="2400" b="1" dirty="0">
                <a:solidFill>
                  <a:srgbClr val="FFFFFF"/>
                </a:solidFill>
                <a:ea typeface="HK Grotesk Bold"/>
                <a:cs typeface="HK Grotesk Bold"/>
                <a:sym typeface="HK Grotesk Bold"/>
              </a:rPr>
              <a:t>     </a:t>
            </a:r>
            <a:r>
              <a:rPr lang="en-US" sz="2400" dirty="0">
                <a:solidFill>
                  <a:srgbClr val="FFFFFF"/>
                </a:solidFill>
                <a:ea typeface="HK Grotesk Bold"/>
                <a:cs typeface="HK Grotesk Bold"/>
                <a:sym typeface="HK Grotesk Bold"/>
              </a:rPr>
              <a:t> The system uses structured medical datasets for lab test reference ranges, which can be reviewed and verified by doctors to ensure accuracy</a:t>
            </a:r>
          </a:p>
          <a:p>
            <a:pPr algn="l">
              <a:lnSpc>
                <a:spcPts val="4399"/>
              </a:lnSpc>
            </a:pPr>
            <a:endParaRPr lang="en-US" sz="2400" b="1" dirty="0">
              <a:solidFill>
                <a:srgbClr val="FFFFFF"/>
              </a:solidFill>
              <a:ea typeface="HK Grotesk Bold"/>
              <a:cs typeface="HK Grotesk Bold"/>
              <a:sym typeface="HK Grotesk Bold"/>
            </a:endParaRPr>
          </a:p>
          <a:p>
            <a:pPr algn="l">
              <a:lnSpc>
                <a:spcPts val="4399"/>
              </a:lnSpc>
              <a:spcBef>
                <a:spcPct val="0"/>
              </a:spcBef>
            </a:pPr>
            <a:endParaRPr lang="en-US" sz="3999" b="1" dirty="0">
              <a:solidFill>
                <a:srgbClr val="FFFFFF"/>
              </a:solidFill>
              <a:latin typeface="HK Grotesk Bold"/>
              <a:ea typeface="HK Grotesk Bold"/>
              <a:cs typeface="HK Grotesk Bold"/>
              <a:sym typeface="HK Grotesk Bold"/>
            </a:endParaRPr>
          </a:p>
        </p:txBody>
      </p:sp>
      <p:sp>
        <p:nvSpPr>
          <p:cNvPr id="5" name="TextBox 5"/>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CP2</a:t>
            </a:r>
          </a:p>
        </p:txBody>
      </p:sp>
      <p:grpSp>
        <p:nvGrpSpPr>
          <p:cNvPr id="6" name="Group 6"/>
          <p:cNvGrpSpPr/>
          <p:nvPr/>
        </p:nvGrpSpPr>
        <p:grpSpPr>
          <a:xfrm>
            <a:off x="15041993" y="441608"/>
            <a:ext cx="1317891" cy="1060450"/>
            <a:chOff x="0" y="0"/>
            <a:chExt cx="912277" cy="734070"/>
          </a:xfrm>
        </p:grpSpPr>
        <p:sp>
          <p:nvSpPr>
            <p:cNvPr id="7" name="Freeform 7"/>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4"/>
              <a:stretch>
                <a:fillRect t="-1179" b="-1179"/>
              </a:stretch>
            </a:blipFill>
          </p:spPr>
        </p:sp>
      </p:grpSp>
      <p:sp>
        <p:nvSpPr>
          <p:cNvPr id="8" name="Freeform 8"/>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
        <p:nvSpPr>
          <p:cNvPr id="3" name="Freeform 3"/>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5105400" y="681935"/>
            <a:ext cx="9052057" cy="9040808"/>
          </a:xfrm>
          <a:prstGeom prst="rect">
            <a:avLst/>
          </a:prstGeom>
        </p:spPr>
        <p:txBody>
          <a:bodyPr wrap="square" lIns="0" tIns="0" rIns="0" bIns="0" rtlCol="0" anchor="t">
            <a:spAutoFit/>
          </a:bodyPr>
          <a:lstStyle/>
          <a:p>
            <a:pPr algn="l">
              <a:lnSpc>
                <a:spcPts val="4399"/>
              </a:lnSpc>
              <a:spcBef>
                <a:spcPct val="0"/>
              </a:spcBef>
            </a:pPr>
            <a:r>
              <a:rPr lang="en-US" sz="2800" b="1" dirty="0">
                <a:solidFill>
                  <a:srgbClr val="FFFFFF"/>
                </a:solidFill>
                <a:ea typeface="HK Grotesk Bold"/>
                <a:cs typeface="HK Grotesk Bold"/>
                <a:sym typeface="HK Grotesk Bold"/>
              </a:rPr>
              <a:t>Prototype Demonstration</a:t>
            </a:r>
          </a:p>
          <a:p>
            <a:pPr algn="just">
              <a:lnSpc>
                <a:spcPts val="4399"/>
              </a:lnSpc>
              <a:spcBef>
                <a:spcPct val="0"/>
              </a:spcBef>
            </a:pPr>
            <a:r>
              <a:rPr lang="en-US" sz="2400" dirty="0">
                <a:solidFill>
                  <a:srgbClr val="FFFFFF"/>
                </a:solidFill>
                <a:ea typeface="HK Grotesk Bold"/>
                <a:cs typeface="HK Grotesk Bold"/>
                <a:sym typeface="HK Grotesk Bold"/>
              </a:rPr>
              <a:t>The current prototype of CURALENS shows the progress of the system in analyzing laboratory reports.</a:t>
            </a:r>
          </a:p>
          <a:p>
            <a:pPr algn="just">
              <a:lnSpc>
                <a:spcPts val="4399"/>
              </a:lnSpc>
              <a:spcBef>
                <a:spcPct val="0"/>
              </a:spcBef>
            </a:pPr>
            <a:r>
              <a:rPr lang="en-US" sz="2400" b="1" dirty="0">
                <a:solidFill>
                  <a:srgbClr val="FFFFFF"/>
                </a:solidFill>
                <a:ea typeface="HK Grotesk Bold"/>
                <a:cs typeface="HK Grotesk Bold"/>
                <a:sym typeface="HK Grotesk Bold"/>
              </a:rPr>
              <a:t>Screenshots of the Application:</a:t>
            </a:r>
          </a:p>
          <a:p>
            <a:pPr algn="just">
              <a:lnSpc>
                <a:spcPts val="4399"/>
              </a:lnSpc>
              <a:spcBef>
                <a:spcPct val="0"/>
              </a:spcBef>
            </a:pPr>
            <a:r>
              <a:rPr lang="en-US" sz="2400" b="1" dirty="0">
                <a:solidFill>
                  <a:srgbClr val="FFFFFF"/>
                </a:solidFill>
                <a:ea typeface="HK Grotesk Bold"/>
                <a:cs typeface="HK Grotesk Bold"/>
                <a:sym typeface="HK Grotesk Bold"/>
              </a:rPr>
              <a:t>    </a:t>
            </a:r>
            <a:r>
              <a:rPr lang="en-US" sz="2400" dirty="0">
                <a:solidFill>
                  <a:srgbClr val="FFFFFF"/>
                </a:solidFill>
                <a:ea typeface="HK Grotesk Bold"/>
                <a:cs typeface="HK Grotesk Bold"/>
                <a:sym typeface="HK Grotesk Bold"/>
              </a:rPr>
              <a:t>The prototype includes UI screens such as the dashboard, report upload page, and analysis page where users can view interpreted results.</a:t>
            </a:r>
          </a:p>
          <a:p>
            <a:pPr algn="just">
              <a:lnSpc>
                <a:spcPts val="4399"/>
              </a:lnSpc>
              <a:spcBef>
                <a:spcPct val="0"/>
              </a:spcBef>
            </a:pPr>
            <a:r>
              <a:rPr lang="en-US" sz="2400" b="1" dirty="0">
                <a:solidFill>
                  <a:srgbClr val="FFFFFF"/>
                </a:solidFill>
                <a:ea typeface="HK Grotesk Bold"/>
                <a:cs typeface="HK Grotesk Bold"/>
                <a:sym typeface="HK Grotesk Bold"/>
              </a:rPr>
              <a:t>Working Modules:</a:t>
            </a:r>
          </a:p>
          <a:p>
            <a:pPr algn="just">
              <a:lnSpc>
                <a:spcPts val="4399"/>
              </a:lnSpc>
              <a:spcBef>
                <a:spcPct val="0"/>
              </a:spcBef>
            </a:pPr>
            <a:r>
              <a:rPr lang="en-US" sz="2400" b="1" dirty="0">
                <a:solidFill>
                  <a:srgbClr val="FFFFFF"/>
                </a:solidFill>
                <a:ea typeface="HK Grotesk Bold"/>
                <a:cs typeface="HK Grotesk Bold"/>
                <a:sym typeface="HK Grotesk Bold"/>
              </a:rPr>
              <a:t>     </a:t>
            </a:r>
            <a:r>
              <a:rPr lang="en-US" sz="2400" dirty="0">
                <a:solidFill>
                  <a:srgbClr val="FFFFFF"/>
                </a:solidFill>
                <a:ea typeface="HK Grotesk Bold"/>
                <a:cs typeface="HK Grotesk Bold"/>
                <a:sym typeface="HK Grotesk Bold"/>
              </a:rPr>
              <a:t>Report upload module</a:t>
            </a:r>
          </a:p>
          <a:p>
            <a:pPr algn="just">
              <a:lnSpc>
                <a:spcPts val="4399"/>
              </a:lnSpc>
              <a:spcBef>
                <a:spcPct val="0"/>
              </a:spcBef>
            </a:pPr>
            <a:r>
              <a:rPr lang="en-US" sz="2400" dirty="0">
                <a:solidFill>
                  <a:srgbClr val="FFFFFF"/>
                </a:solidFill>
                <a:ea typeface="HK Grotesk Bold"/>
                <a:cs typeface="HK Grotesk Bold"/>
                <a:sym typeface="HK Grotesk Bold"/>
              </a:rPr>
              <a:t>      OCR text extraction module</a:t>
            </a:r>
          </a:p>
          <a:p>
            <a:pPr algn="just">
              <a:lnSpc>
                <a:spcPts val="4399"/>
              </a:lnSpc>
              <a:spcBef>
                <a:spcPct val="0"/>
              </a:spcBef>
            </a:pPr>
            <a:r>
              <a:rPr lang="en-US" sz="2400" dirty="0">
                <a:solidFill>
                  <a:srgbClr val="FFFFFF"/>
                </a:solidFill>
                <a:ea typeface="HK Grotesk Bold"/>
                <a:cs typeface="HK Grotesk Bold"/>
                <a:sym typeface="HK Grotesk Bold"/>
              </a:rPr>
              <a:t>      AI analysis module</a:t>
            </a:r>
          </a:p>
          <a:p>
            <a:pPr algn="just">
              <a:lnSpc>
                <a:spcPts val="4399"/>
              </a:lnSpc>
              <a:spcBef>
                <a:spcPct val="0"/>
              </a:spcBef>
            </a:pPr>
            <a:r>
              <a:rPr lang="en-US" sz="2400" dirty="0">
                <a:solidFill>
                  <a:srgbClr val="FFFFFF"/>
                </a:solidFill>
                <a:ea typeface="HK Grotesk Bold"/>
                <a:cs typeface="HK Grotesk Bold"/>
                <a:sym typeface="HK Grotesk Bold"/>
              </a:rPr>
              <a:t>      Dashboard for displaying results</a:t>
            </a:r>
          </a:p>
          <a:p>
            <a:pPr algn="just">
              <a:lnSpc>
                <a:spcPts val="4399"/>
              </a:lnSpc>
              <a:spcBef>
                <a:spcPct val="0"/>
              </a:spcBef>
            </a:pPr>
            <a:r>
              <a:rPr lang="en-US" sz="2400" b="1" dirty="0">
                <a:solidFill>
                  <a:srgbClr val="FFFFFF"/>
                </a:solidFill>
                <a:ea typeface="HK Grotesk Bold"/>
                <a:cs typeface="HK Grotesk Bold"/>
                <a:sym typeface="HK Grotesk Bold"/>
              </a:rPr>
              <a:t>Interaction Between Components:</a:t>
            </a:r>
          </a:p>
          <a:p>
            <a:pPr algn="just">
              <a:lnSpc>
                <a:spcPts val="4399"/>
              </a:lnSpc>
              <a:spcBef>
                <a:spcPct val="0"/>
              </a:spcBef>
            </a:pPr>
            <a:r>
              <a:rPr lang="en-US" sz="2400" b="1" dirty="0">
                <a:solidFill>
                  <a:srgbClr val="FFFFFF"/>
                </a:solidFill>
                <a:ea typeface="HK Grotesk Bold"/>
                <a:cs typeface="HK Grotesk Bold"/>
                <a:sym typeface="HK Grotesk Bold"/>
              </a:rPr>
              <a:t>        </a:t>
            </a:r>
            <a:r>
              <a:rPr lang="en-US" sz="2400" dirty="0">
                <a:solidFill>
                  <a:srgbClr val="FFFFFF"/>
                </a:solidFill>
                <a:ea typeface="HK Grotesk Bold"/>
                <a:cs typeface="HK Grotesk Bold"/>
                <a:sym typeface="HK Grotesk Bold"/>
              </a:rPr>
              <a:t>User uploads a report → OCR extracts lab values → AI compares values with medical datasets → results are displayed on the dashboard and reviewed by doctors.</a:t>
            </a:r>
          </a:p>
          <a:p>
            <a:pPr algn="just">
              <a:lnSpc>
                <a:spcPts val="4399"/>
              </a:lnSpc>
              <a:spcBef>
                <a:spcPct val="0"/>
              </a:spcBef>
            </a:pPr>
            <a:r>
              <a:rPr lang="en-US" sz="3999" b="1" dirty="0">
                <a:solidFill>
                  <a:srgbClr val="FFFFFF"/>
                </a:solidFill>
                <a:latin typeface="HK Grotesk Bold"/>
                <a:ea typeface="HK Grotesk Bold"/>
                <a:cs typeface="HK Grotesk Bold"/>
                <a:sym typeface="HK Grotesk Bold"/>
              </a:rPr>
              <a:t>   </a:t>
            </a:r>
          </a:p>
        </p:txBody>
      </p:sp>
      <p:sp>
        <p:nvSpPr>
          <p:cNvPr id="5" name="TextBox 5"/>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CP2</a:t>
            </a:r>
          </a:p>
        </p:txBody>
      </p:sp>
      <p:grpSp>
        <p:nvGrpSpPr>
          <p:cNvPr id="6" name="Group 6"/>
          <p:cNvGrpSpPr/>
          <p:nvPr/>
        </p:nvGrpSpPr>
        <p:grpSpPr>
          <a:xfrm>
            <a:off x="15041993" y="441608"/>
            <a:ext cx="1317891" cy="1060450"/>
            <a:chOff x="0" y="0"/>
            <a:chExt cx="912277" cy="734070"/>
          </a:xfrm>
        </p:grpSpPr>
        <p:sp>
          <p:nvSpPr>
            <p:cNvPr id="7" name="Freeform 7"/>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4"/>
              <a:stretch>
                <a:fillRect t="-1179" b="-1179"/>
              </a:stretch>
            </a:blipFill>
          </p:spPr>
        </p:sp>
      </p:grpSp>
      <p:sp>
        <p:nvSpPr>
          <p:cNvPr id="8" name="Freeform 8"/>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pic>
        <p:nvPicPr>
          <p:cNvPr id="12" name="Picture 11">
            <a:extLst>
              <a:ext uri="{FF2B5EF4-FFF2-40B4-BE49-F238E27FC236}">
                <a16:creationId xmlns:a16="http://schemas.microsoft.com/office/drawing/2014/main" id="{63F6EF79-996F-21E4-8F97-AC82E6FD1F7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325600" y="3848100"/>
            <a:ext cx="3684970" cy="5132397"/>
          </a:xfrm>
          <a:prstGeom prst="rect">
            <a:avLst/>
          </a:prstGeom>
          <a:ln>
            <a:noFill/>
          </a:ln>
          <a:effectLst>
            <a:softEdge rad="112500"/>
          </a:effectLst>
        </p:spPr>
      </p:pic>
      <p:pic>
        <p:nvPicPr>
          <p:cNvPr id="14" name="Picture 13">
            <a:extLst>
              <a:ext uri="{FF2B5EF4-FFF2-40B4-BE49-F238E27FC236}">
                <a16:creationId xmlns:a16="http://schemas.microsoft.com/office/drawing/2014/main" id="{12943151-1E44-A031-D44E-4DF5B09BE51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77430" y="2118294"/>
            <a:ext cx="4423466" cy="3459611"/>
          </a:xfrm>
          <a:prstGeom prst="rect">
            <a:avLst/>
          </a:prstGeom>
          <a:ln w="228600" cap="sq" cmpd="thickThin">
            <a:solidFill>
              <a:srgbClr val="000000"/>
            </a:solidFill>
            <a:prstDash val="solid"/>
            <a:miter lim="800000"/>
          </a:ln>
          <a:effectLst>
            <a:innerShdw blurRad="76200">
              <a:srgbClr val="000000"/>
            </a:innerShdw>
          </a:effectLst>
        </p:spPr>
      </p:pic>
    </p:spTree>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grpSp>
        <p:nvGrpSpPr>
          <p:cNvPr id="2" name="Group 2"/>
          <p:cNvGrpSpPr/>
          <p:nvPr/>
        </p:nvGrpSpPr>
        <p:grpSpPr>
          <a:xfrm>
            <a:off x="15041993" y="441608"/>
            <a:ext cx="1317891" cy="1060450"/>
            <a:chOff x="0" y="0"/>
            <a:chExt cx="912277" cy="734070"/>
          </a:xfrm>
        </p:grpSpPr>
        <p:sp>
          <p:nvSpPr>
            <p:cNvPr id="3" name="Freeform 3"/>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2"/>
              <a:stretch>
                <a:fillRect t="-1179" b="-1179"/>
              </a:stretch>
            </a:blipFill>
          </p:spPr>
        </p:sp>
      </p:grpSp>
      <p:sp>
        <p:nvSpPr>
          <p:cNvPr id="4" name="Freeform 4"/>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
        <p:nvSpPr>
          <p:cNvPr id="7" name="TextBox 7"/>
          <p:cNvSpPr txBox="1"/>
          <p:nvPr/>
        </p:nvSpPr>
        <p:spPr>
          <a:xfrm>
            <a:off x="5029200" y="1943100"/>
            <a:ext cx="11136127" cy="6219523"/>
          </a:xfrm>
          <a:prstGeom prst="rect">
            <a:avLst/>
          </a:prstGeom>
        </p:spPr>
        <p:txBody>
          <a:bodyPr lIns="0" tIns="0" rIns="0" bIns="0" rtlCol="0" anchor="t">
            <a:spAutoFit/>
          </a:bodyPr>
          <a:lstStyle/>
          <a:p>
            <a:pPr algn="l">
              <a:lnSpc>
                <a:spcPts val="4399"/>
              </a:lnSpc>
            </a:pPr>
            <a:r>
              <a:rPr lang="en-US" sz="3999" b="1" dirty="0">
                <a:solidFill>
                  <a:srgbClr val="FFFFFF"/>
                </a:solidFill>
                <a:latin typeface="HK Grotesk Bold"/>
                <a:ea typeface="HK Grotesk Bold"/>
                <a:cs typeface="HK Grotesk Bold"/>
                <a:sym typeface="HK Grotesk Bold"/>
              </a:rPr>
              <a:t>System Workflow</a:t>
            </a:r>
          </a:p>
          <a:p>
            <a:pPr algn="l">
              <a:lnSpc>
                <a:spcPts val="4399"/>
              </a:lnSpc>
            </a:pPr>
            <a:endParaRPr lang="en-US" sz="3999" b="1" dirty="0">
              <a:solidFill>
                <a:srgbClr val="FFFFFF"/>
              </a:solidFill>
              <a:latin typeface="HK Grotesk Bold"/>
              <a:ea typeface="HK Grotesk Bold"/>
              <a:cs typeface="HK Grotesk Bold"/>
              <a:sym typeface="HK Grotesk Bold"/>
            </a:endParaRPr>
          </a:p>
          <a:p>
            <a:pPr algn="just">
              <a:lnSpc>
                <a:spcPts val="4399"/>
              </a:lnSpc>
              <a:spcBef>
                <a:spcPct val="0"/>
              </a:spcBef>
            </a:pPr>
            <a:r>
              <a:rPr lang="en-US" sz="2400" dirty="0">
                <a:solidFill>
                  <a:srgbClr val="FFFFFF"/>
                </a:solidFill>
                <a:ea typeface="HK Grotesk Bold"/>
                <a:cs typeface="HK Grotesk Bold"/>
                <a:sym typeface="HK Grotesk Bold"/>
              </a:rPr>
              <a:t>The system works in the following steps:</a:t>
            </a:r>
          </a:p>
          <a:p>
            <a:pPr algn="just">
              <a:lnSpc>
                <a:spcPts val="4399"/>
              </a:lnSpc>
              <a:spcBef>
                <a:spcPct val="0"/>
              </a:spcBef>
            </a:pPr>
            <a:r>
              <a:rPr lang="en-US" sz="2400" b="1" dirty="0">
                <a:solidFill>
                  <a:srgbClr val="FFFFFF"/>
                </a:solidFill>
                <a:ea typeface="HK Grotesk Bold"/>
                <a:cs typeface="HK Grotesk Bold"/>
                <a:sym typeface="HK Grotesk Bold"/>
              </a:rPr>
              <a:t>User Input:</a:t>
            </a:r>
          </a:p>
          <a:p>
            <a:pPr algn="just">
              <a:lnSpc>
                <a:spcPts val="4399"/>
              </a:lnSpc>
              <a:spcBef>
                <a:spcPct val="0"/>
              </a:spcBef>
            </a:pPr>
            <a:r>
              <a:rPr lang="en-US" sz="2400" b="1" dirty="0">
                <a:solidFill>
                  <a:srgbClr val="FFFFFF"/>
                </a:solidFill>
                <a:ea typeface="HK Grotesk Bold"/>
                <a:cs typeface="HK Grotesk Bold"/>
                <a:sym typeface="HK Grotesk Bold"/>
              </a:rPr>
              <a:t>  </a:t>
            </a:r>
            <a:r>
              <a:rPr lang="en-US" sz="2400" dirty="0">
                <a:solidFill>
                  <a:srgbClr val="FFFFFF"/>
                </a:solidFill>
                <a:ea typeface="HK Grotesk Bold"/>
                <a:cs typeface="HK Grotesk Bold"/>
                <a:sym typeface="HK Grotesk Bold"/>
              </a:rPr>
              <a:t>User logs in and uploads a laboratory report (PDF or image). </a:t>
            </a:r>
          </a:p>
          <a:p>
            <a:pPr algn="just">
              <a:lnSpc>
                <a:spcPts val="4399"/>
              </a:lnSpc>
              <a:spcBef>
                <a:spcPct val="0"/>
              </a:spcBef>
            </a:pPr>
            <a:r>
              <a:rPr lang="en-US" sz="2400" b="1" dirty="0">
                <a:solidFill>
                  <a:srgbClr val="FFFFFF"/>
                </a:solidFill>
                <a:ea typeface="HK Grotesk Bold"/>
                <a:cs typeface="HK Grotesk Bold"/>
                <a:sym typeface="HK Grotesk Bold"/>
              </a:rPr>
              <a:t>Processing:</a:t>
            </a:r>
          </a:p>
          <a:p>
            <a:pPr algn="just">
              <a:lnSpc>
                <a:spcPts val="4399"/>
              </a:lnSpc>
              <a:spcBef>
                <a:spcPct val="0"/>
              </a:spcBef>
            </a:pPr>
            <a:r>
              <a:rPr lang="en-US" sz="2400" b="1" dirty="0">
                <a:solidFill>
                  <a:srgbClr val="FFFFFF"/>
                </a:solidFill>
                <a:ea typeface="HK Grotesk Bold"/>
                <a:cs typeface="HK Grotesk Bold"/>
                <a:sym typeface="HK Grotesk Bold"/>
              </a:rPr>
              <a:t>   </a:t>
            </a:r>
            <a:r>
              <a:rPr lang="en-US" sz="2400" dirty="0">
                <a:solidFill>
                  <a:srgbClr val="FFFFFF"/>
                </a:solidFill>
                <a:ea typeface="HK Grotesk Bold"/>
                <a:cs typeface="HK Grotesk Bold"/>
                <a:sym typeface="HK Grotesk Bold"/>
              </a:rPr>
              <a:t>OCR extracts the text → System detects lab test values → AI analyzes the values and compares them with reference ranges. </a:t>
            </a:r>
          </a:p>
          <a:p>
            <a:pPr algn="just">
              <a:lnSpc>
                <a:spcPts val="4399"/>
              </a:lnSpc>
              <a:spcBef>
                <a:spcPct val="0"/>
              </a:spcBef>
            </a:pPr>
            <a:r>
              <a:rPr lang="en-US" sz="2400" b="1" dirty="0">
                <a:solidFill>
                  <a:srgbClr val="FFFFFF"/>
                </a:solidFill>
                <a:ea typeface="HK Grotesk Bold"/>
                <a:cs typeface="HK Grotesk Bold"/>
                <a:sym typeface="HK Grotesk Bold"/>
              </a:rPr>
              <a:t>Output / Result: </a:t>
            </a:r>
          </a:p>
          <a:p>
            <a:pPr algn="just">
              <a:lnSpc>
                <a:spcPts val="4399"/>
              </a:lnSpc>
              <a:spcBef>
                <a:spcPct val="0"/>
              </a:spcBef>
            </a:pPr>
            <a:r>
              <a:rPr lang="en-US" sz="2400" b="1" dirty="0">
                <a:solidFill>
                  <a:srgbClr val="FFFFFF"/>
                </a:solidFill>
                <a:ea typeface="HK Grotesk Bold"/>
                <a:cs typeface="HK Grotesk Bold"/>
                <a:sym typeface="HK Grotesk Bold"/>
              </a:rPr>
              <a:t>  </a:t>
            </a:r>
            <a:r>
              <a:rPr lang="en-US" sz="2400" dirty="0">
                <a:solidFill>
                  <a:srgbClr val="FFFFFF"/>
                </a:solidFill>
                <a:ea typeface="HK Grotesk Bold"/>
                <a:cs typeface="HK Grotesk Bold"/>
                <a:sym typeface="HK Grotesk Bold"/>
              </a:rPr>
              <a:t>The system shows simplified explanations, risk levels, and health insights on the dashboard</a:t>
            </a:r>
            <a:r>
              <a:rPr lang="en-US" sz="3999" dirty="0">
                <a:solidFill>
                  <a:srgbClr val="FFFFFF"/>
                </a:solidFill>
                <a:latin typeface="HK Grotesk Bold"/>
                <a:ea typeface="HK Grotesk Bold"/>
                <a:cs typeface="HK Grotesk Bold"/>
                <a:sym typeface="HK Grotesk Bold"/>
              </a:rPr>
              <a:t>.</a:t>
            </a:r>
          </a:p>
        </p:txBody>
      </p:sp>
      <p:sp>
        <p:nvSpPr>
          <p:cNvPr id="8" name="TextBox 8"/>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CP2</a:t>
            </a:r>
          </a:p>
        </p:txBody>
      </p:sp>
    </p:spTree>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grpSp>
        <p:nvGrpSpPr>
          <p:cNvPr id="2" name="Group 2"/>
          <p:cNvGrpSpPr/>
          <p:nvPr/>
        </p:nvGrpSpPr>
        <p:grpSpPr>
          <a:xfrm>
            <a:off x="15041993" y="441608"/>
            <a:ext cx="1317891" cy="1060450"/>
            <a:chOff x="0" y="0"/>
            <a:chExt cx="912277" cy="734070"/>
          </a:xfrm>
        </p:grpSpPr>
        <p:sp>
          <p:nvSpPr>
            <p:cNvPr id="3" name="Freeform 3"/>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2"/>
              <a:stretch>
                <a:fillRect t="-1179" b="-1179"/>
              </a:stretch>
            </a:blipFill>
          </p:spPr>
        </p:sp>
      </p:grpSp>
      <p:sp>
        <p:nvSpPr>
          <p:cNvPr id="4" name="Freeform 4"/>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
        <p:nvSpPr>
          <p:cNvPr id="7" name="TextBox 7"/>
          <p:cNvSpPr txBox="1"/>
          <p:nvPr/>
        </p:nvSpPr>
        <p:spPr>
          <a:xfrm>
            <a:off x="4419600" y="1062037"/>
            <a:ext cx="12542044" cy="8066311"/>
          </a:xfrm>
          <a:prstGeom prst="rect">
            <a:avLst/>
          </a:prstGeom>
        </p:spPr>
        <p:txBody>
          <a:bodyPr lIns="0" tIns="0" rIns="0" bIns="0" rtlCol="0" anchor="t">
            <a:spAutoFit/>
          </a:bodyPr>
          <a:lstStyle/>
          <a:p>
            <a:pPr>
              <a:lnSpc>
                <a:spcPts val="3656"/>
              </a:lnSpc>
            </a:pPr>
            <a:r>
              <a:rPr lang="en-US" sz="2400" b="1" dirty="0">
                <a:solidFill>
                  <a:srgbClr val="FFFFFF"/>
                </a:solidFill>
                <a:ea typeface="HK Grotesk Bold"/>
                <a:cs typeface="HK Grotesk Bold"/>
                <a:sym typeface="HK Grotesk Bold"/>
              </a:rPr>
              <a:t>Progress So Far</a:t>
            </a:r>
          </a:p>
          <a:p>
            <a:pPr>
              <a:lnSpc>
                <a:spcPts val="3656"/>
              </a:lnSpc>
            </a:pPr>
            <a:r>
              <a:rPr lang="en-US" sz="2400" dirty="0">
                <a:solidFill>
                  <a:srgbClr val="FFFFFF"/>
                </a:solidFill>
                <a:ea typeface="HK Grotesk Bold"/>
                <a:cs typeface="HK Grotesk Bold"/>
                <a:sym typeface="HK Grotesk Bold"/>
              </a:rPr>
              <a:t>Since the first checkpoint presentation, we have started implementing the CURALENS application</a:t>
            </a:r>
            <a:r>
              <a:rPr lang="en-US" sz="2400" b="1" dirty="0">
                <a:solidFill>
                  <a:srgbClr val="FFFFFF"/>
                </a:solidFill>
                <a:ea typeface="HK Grotesk Bold"/>
                <a:cs typeface="HK Grotesk Bold"/>
                <a:sym typeface="HK Grotesk Bold"/>
              </a:rPr>
              <a:t>.</a:t>
            </a:r>
          </a:p>
          <a:p>
            <a:pPr>
              <a:lnSpc>
                <a:spcPts val="3656"/>
              </a:lnSpc>
            </a:pPr>
            <a:endParaRPr lang="en-US" sz="2400" b="1" dirty="0">
              <a:solidFill>
                <a:srgbClr val="FFFFFF"/>
              </a:solidFill>
              <a:ea typeface="HK Grotesk Bold"/>
              <a:cs typeface="HK Grotesk Bold"/>
              <a:sym typeface="HK Grotesk Bold"/>
            </a:endParaRPr>
          </a:p>
          <a:p>
            <a:pPr>
              <a:lnSpc>
                <a:spcPts val="3656"/>
              </a:lnSpc>
            </a:pPr>
            <a:r>
              <a:rPr lang="en-US" sz="2400" b="1" dirty="0">
                <a:solidFill>
                  <a:srgbClr val="FFFFFF"/>
                </a:solidFill>
                <a:ea typeface="HK Grotesk Bold"/>
                <a:cs typeface="HK Grotesk Bold"/>
                <a:sym typeface="HK Grotesk Bold"/>
              </a:rPr>
              <a:t>UI Development:</a:t>
            </a:r>
          </a:p>
          <a:p>
            <a:pPr>
              <a:lnSpc>
                <a:spcPts val="3656"/>
              </a:lnSpc>
            </a:pPr>
            <a:r>
              <a:rPr lang="en-US" sz="2400" dirty="0">
                <a:solidFill>
                  <a:srgbClr val="FFFFFF"/>
                </a:solidFill>
                <a:ea typeface="HK Grotesk Bold"/>
                <a:cs typeface="HK Grotesk Bold"/>
                <a:sym typeface="HK Grotesk Bold"/>
              </a:rPr>
              <a:t>The user interface design has been developed, including the login page and main application dashboard.</a:t>
            </a:r>
          </a:p>
          <a:p>
            <a:pPr>
              <a:lnSpc>
                <a:spcPts val="3656"/>
              </a:lnSpc>
            </a:pPr>
            <a:endParaRPr lang="en-US" sz="2400" b="1" dirty="0">
              <a:solidFill>
                <a:srgbClr val="FFFFFF"/>
              </a:solidFill>
              <a:ea typeface="HK Grotesk Bold"/>
              <a:cs typeface="HK Grotesk Bold"/>
              <a:sym typeface="HK Grotesk Bold"/>
            </a:endParaRPr>
          </a:p>
          <a:p>
            <a:pPr>
              <a:lnSpc>
                <a:spcPts val="3656"/>
              </a:lnSpc>
            </a:pPr>
            <a:r>
              <a:rPr lang="en-US" sz="2400" b="1" dirty="0">
                <a:solidFill>
                  <a:srgbClr val="FFFFFF"/>
                </a:solidFill>
                <a:ea typeface="HK Grotesk Bold"/>
                <a:cs typeface="HK Grotesk Bold"/>
                <a:sym typeface="HK Grotesk Bold"/>
              </a:rPr>
              <a:t>Authentication Setup:</a:t>
            </a:r>
          </a:p>
          <a:p>
            <a:pPr>
              <a:lnSpc>
                <a:spcPts val="3656"/>
              </a:lnSpc>
            </a:pPr>
            <a:r>
              <a:rPr lang="en-US" sz="2400" dirty="0">
                <a:solidFill>
                  <a:srgbClr val="FFFFFF"/>
                </a:solidFill>
                <a:ea typeface="HK Grotesk Bold"/>
                <a:cs typeface="HK Grotesk Bold"/>
                <a:sym typeface="HK Grotesk Bold"/>
              </a:rPr>
              <a:t>A basic login system has been implemented to allow users to securely access the application.</a:t>
            </a:r>
          </a:p>
          <a:p>
            <a:pPr>
              <a:lnSpc>
                <a:spcPts val="3656"/>
              </a:lnSpc>
            </a:pPr>
            <a:endParaRPr lang="en-US" sz="2400" b="1" dirty="0">
              <a:solidFill>
                <a:srgbClr val="FFFFFF"/>
              </a:solidFill>
              <a:ea typeface="HK Grotesk Bold"/>
              <a:cs typeface="HK Grotesk Bold"/>
              <a:sym typeface="HK Grotesk Bold"/>
            </a:endParaRPr>
          </a:p>
          <a:p>
            <a:pPr>
              <a:lnSpc>
                <a:spcPts val="3656"/>
              </a:lnSpc>
            </a:pPr>
            <a:r>
              <a:rPr lang="en-US" sz="2400" b="1" dirty="0">
                <a:solidFill>
                  <a:srgbClr val="FFFFFF"/>
                </a:solidFill>
                <a:ea typeface="HK Grotesk Bold"/>
                <a:cs typeface="HK Grotesk Bold"/>
                <a:sym typeface="HK Grotesk Bold"/>
              </a:rPr>
              <a:t>Application Interface:</a:t>
            </a:r>
          </a:p>
          <a:p>
            <a:pPr>
              <a:lnSpc>
                <a:spcPts val="3656"/>
              </a:lnSpc>
            </a:pPr>
            <a:r>
              <a:rPr lang="en-US" sz="2400" dirty="0">
                <a:solidFill>
                  <a:srgbClr val="FFFFFF"/>
                </a:solidFill>
                <a:ea typeface="HK Grotesk Bold"/>
                <a:cs typeface="HK Grotesk Bold"/>
                <a:sym typeface="HK Grotesk Bold"/>
              </a:rPr>
              <a:t>The main application page has been created where users can interact with the system and access features such as report upload and analysis</a:t>
            </a:r>
            <a:r>
              <a:rPr lang="en-US" sz="2400" b="1" dirty="0">
                <a:solidFill>
                  <a:srgbClr val="FFFFFF"/>
                </a:solidFill>
                <a:ea typeface="HK Grotesk Bold"/>
                <a:cs typeface="HK Grotesk Bold"/>
                <a:sym typeface="HK Grotesk Bold"/>
              </a:rPr>
              <a:t>.</a:t>
            </a:r>
          </a:p>
          <a:p>
            <a:pPr>
              <a:lnSpc>
                <a:spcPts val="3656"/>
              </a:lnSpc>
            </a:pPr>
            <a:endParaRPr lang="en-US" sz="2400" b="1" dirty="0">
              <a:solidFill>
                <a:srgbClr val="FFFFFF"/>
              </a:solidFill>
              <a:ea typeface="HK Grotesk Bold"/>
              <a:cs typeface="HK Grotesk Bold"/>
              <a:sym typeface="HK Grotesk Bold"/>
            </a:endParaRPr>
          </a:p>
          <a:p>
            <a:pPr>
              <a:lnSpc>
                <a:spcPts val="3656"/>
              </a:lnSpc>
            </a:pPr>
            <a:r>
              <a:rPr lang="en-US" sz="2400" b="1" dirty="0">
                <a:solidFill>
                  <a:srgbClr val="FFFFFF"/>
                </a:solidFill>
                <a:ea typeface="HK Grotesk Bold"/>
                <a:cs typeface="HK Grotesk Bold"/>
                <a:sym typeface="HK Grotesk Bold"/>
              </a:rPr>
              <a:t>Initial Module Setup:</a:t>
            </a:r>
          </a:p>
          <a:p>
            <a:pPr>
              <a:lnSpc>
                <a:spcPts val="3656"/>
              </a:lnSpc>
            </a:pPr>
            <a:r>
              <a:rPr lang="en-US" sz="2400" dirty="0">
                <a:solidFill>
                  <a:srgbClr val="FFFFFF"/>
                </a:solidFill>
                <a:ea typeface="HK Grotesk Bold"/>
                <a:cs typeface="HK Grotesk Bold"/>
                <a:sym typeface="HK Grotesk Bold"/>
              </a:rPr>
              <a:t>The foundation for integrating modules like OCR processing and AI analysis has been prepared for further development</a:t>
            </a:r>
            <a:r>
              <a:rPr lang="en-US" sz="3323" dirty="0">
                <a:solidFill>
                  <a:srgbClr val="FFFFFF"/>
                </a:solidFill>
                <a:ea typeface="HK Grotesk Bold"/>
                <a:cs typeface="HK Grotesk Bold"/>
                <a:sym typeface="HK Grotesk Bold"/>
              </a:rPr>
              <a:t>.</a:t>
            </a:r>
          </a:p>
        </p:txBody>
      </p:sp>
      <p:sp>
        <p:nvSpPr>
          <p:cNvPr id="8" name="TextBox 8"/>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CP2</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grpSp>
        <p:nvGrpSpPr>
          <p:cNvPr id="2" name="Group 2"/>
          <p:cNvGrpSpPr/>
          <p:nvPr/>
        </p:nvGrpSpPr>
        <p:grpSpPr>
          <a:xfrm>
            <a:off x="15041993" y="441608"/>
            <a:ext cx="1317891" cy="1060450"/>
            <a:chOff x="0" y="0"/>
            <a:chExt cx="912277" cy="734070"/>
          </a:xfrm>
        </p:grpSpPr>
        <p:sp>
          <p:nvSpPr>
            <p:cNvPr id="3" name="Freeform 3"/>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2"/>
              <a:stretch>
                <a:fillRect t="-1179" b="-1179"/>
              </a:stretch>
            </a:blipFill>
          </p:spPr>
        </p:sp>
      </p:grpSp>
      <p:sp>
        <p:nvSpPr>
          <p:cNvPr id="4" name="Freeform 4"/>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
        <p:nvSpPr>
          <p:cNvPr id="7" name="TextBox 7"/>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CP2</a:t>
            </a:r>
          </a:p>
        </p:txBody>
      </p:sp>
      <p:sp>
        <p:nvSpPr>
          <p:cNvPr id="8" name="TextBox 8"/>
          <p:cNvSpPr txBox="1"/>
          <p:nvPr/>
        </p:nvSpPr>
        <p:spPr>
          <a:xfrm>
            <a:off x="4140597" y="800100"/>
            <a:ext cx="13118703" cy="6958123"/>
          </a:xfrm>
          <a:prstGeom prst="rect">
            <a:avLst/>
          </a:prstGeom>
        </p:spPr>
        <p:txBody>
          <a:bodyPr lIns="0" tIns="0" rIns="0" bIns="0" rtlCol="0" anchor="t">
            <a:spAutoFit/>
          </a:bodyPr>
          <a:lstStyle/>
          <a:p>
            <a:pPr>
              <a:lnSpc>
                <a:spcPts val="3850"/>
              </a:lnSpc>
              <a:spcBef>
                <a:spcPct val="0"/>
              </a:spcBef>
            </a:pPr>
            <a:r>
              <a:rPr lang="en-US" sz="2400" b="1" dirty="0">
                <a:solidFill>
                  <a:schemeClr val="accent1">
                    <a:lumMod val="20000"/>
                    <a:lumOff val="80000"/>
                  </a:schemeClr>
                </a:solidFill>
                <a:sym typeface="HK Grotesk Bold"/>
              </a:rPr>
              <a:t>Next Steps</a:t>
            </a:r>
          </a:p>
          <a:p>
            <a:pPr>
              <a:lnSpc>
                <a:spcPts val="3850"/>
              </a:lnSpc>
              <a:spcBef>
                <a:spcPct val="0"/>
              </a:spcBef>
            </a:pPr>
            <a:r>
              <a:rPr lang="en-US" sz="2400" dirty="0">
                <a:solidFill>
                  <a:schemeClr val="accent1">
                    <a:lumMod val="20000"/>
                    <a:lumOff val="80000"/>
                  </a:schemeClr>
                </a:solidFill>
                <a:sym typeface="HK Grotesk Bold"/>
              </a:rPr>
              <a:t>Before the final checkpoint, the following tasks need to be completed:</a:t>
            </a:r>
          </a:p>
          <a:p>
            <a:pPr>
              <a:lnSpc>
                <a:spcPts val="3850"/>
              </a:lnSpc>
              <a:spcBef>
                <a:spcPct val="0"/>
              </a:spcBef>
            </a:pPr>
            <a:endParaRPr lang="en-US" sz="2400" dirty="0">
              <a:solidFill>
                <a:schemeClr val="accent1">
                  <a:lumMod val="20000"/>
                  <a:lumOff val="80000"/>
                </a:schemeClr>
              </a:solidFill>
              <a:sym typeface="HK Grotesk Bold"/>
            </a:endParaRPr>
          </a:p>
          <a:p>
            <a:pPr>
              <a:lnSpc>
                <a:spcPts val="3850"/>
              </a:lnSpc>
              <a:spcBef>
                <a:spcPct val="0"/>
              </a:spcBef>
            </a:pPr>
            <a:r>
              <a:rPr lang="en-US" sz="2400" b="1" dirty="0">
                <a:solidFill>
                  <a:schemeClr val="accent1">
                    <a:lumMod val="20000"/>
                    <a:lumOff val="80000"/>
                  </a:schemeClr>
                </a:solidFill>
                <a:sym typeface="HK Grotesk Bold"/>
              </a:rPr>
              <a:t>Feature Implementation:</a:t>
            </a:r>
          </a:p>
          <a:p>
            <a:pPr>
              <a:lnSpc>
                <a:spcPts val="3850"/>
              </a:lnSpc>
              <a:spcBef>
                <a:spcPct val="0"/>
              </a:spcBef>
            </a:pPr>
            <a:r>
              <a:rPr lang="en-US" sz="2400" dirty="0">
                <a:solidFill>
                  <a:schemeClr val="accent1">
                    <a:lumMod val="20000"/>
                    <a:lumOff val="80000"/>
                  </a:schemeClr>
                </a:solidFill>
                <a:sym typeface="HK Grotesk Bold"/>
              </a:rPr>
              <a:t>Implement core features such as lab report upload, OCR text extraction, AI analysis, and health insights generation.</a:t>
            </a:r>
          </a:p>
          <a:p>
            <a:pPr>
              <a:lnSpc>
                <a:spcPts val="3850"/>
              </a:lnSpc>
              <a:spcBef>
                <a:spcPct val="0"/>
              </a:spcBef>
            </a:pPr>
            <a:endParaRPr lang="en-US" sz="2400" dirty="0">
              <a:solidFill>
                <a:schemeClr val="accent1">
                  <a:lumMod val="20000"/>
                  <a:lumOff val="80000"/>
                </a:schemeClr>
              </a:solidFill>
              <a:sym typeface="HK Grotesk Bold"/>
            </a:endParaRPr>
          </a:p>
          <a:p>
            <a:pPr>
              <a:lnSpc>
                <a:spcPts val="3850"/>
              </a:lnSpc>
              <a:spcBef>
                <a:spcPct val="0"/>
              </a:spcBef>
            </a:pPr>
            <a:r>
              <a:rPr lang="en-US" sz="2400" b="1" dirty="0">
                <a:solidFill>
                  <a:schemeClr val="accent1">
                    <a:lumMod val="20000"/>
                    <a:lumOff val="80000"/>
                  </a:schemeClr>
                </a:solidFill>
                <a:sym typeface="HK Grotesk Bold"/>
              </a:rPr>
              <a:t>Integration Improvement:</a:t>
            </a:r>
          </a:p>
          <a:p>
            <a:pPr>
              <a:lnSpc>
                <a:spcPts val="3850"/>
              </a:lnSpc>
              <a:spcBef>
                <a:spcPct val="0"/>
              </a:spcBef>
            </a:pPr>
            <a:r>
              <a:rPr lang="en-US" sz="2400" dirty="0">
                <a:solidFill>
                  <a:schemeClr val="accent1">
                    <a:lumMod val="20000"/>
                    <a:lumOff val="80000"/>
                  </a:schemeClr>
                </a:solidFill>
                <a:sym typeface="HK Grotesk Bold"/>
              </a:rPr>
              <a:t>Integrate all modules including the frontend, backend, OCR engine, and database for smooth system operation.</a:t>
            </a:r>
          </a:p>
          <a:p>
            <a:pPr>
              <a:lnSpc>
                <a:spcPts val="3850"/>
              </a:lnSpc>
              <a:spcBef>
                <a:spcPct val="0"/>
              </a:spcBef>
            </a:pPr>
            <a:endParaRPr lang="en-US" sz="2400" dirty="0">
              <a:solidFill>
                <a:schemeClr val="accent1">
                  <a:lumMod val="20000"/>
                  <a:lumOff val="80000"/>
                </a:schemeClr>
              </a:solidFill>
              <a:sym typeface="HK Grotesk Bold"/>
            </a:endParaRPr>
          </a:p>
          <a:p>
            <a:pPr>
              <a:lnSpc>
                <a:spcPts val="3850"/>
              </a:lnSpc>
              <a:spcBef>
                <a:spcPct val="0"/>
              </a:spcBef>
            </a:pPr>
            <a:r>
              <a:rPr lang="en-US" sz="2400" b="1" dirty="0">
                <a:solidFill>
                  <a:schemeClr val="accent1">
                    <a:lumMod val="20000"/>
                    <a:lumOff val="80000"/>
                  </a:schemeClr>
                </a:solidFill>
                <a:sym typeface="HK Grotesk Bold"/>
              </a:rPr>
              <a:t>Testing and Optimization:</a:t>
            </a:r>
          </a:p>
          <a:p>
            <a:pPr>
              <a:lnSpc>
                <a:spcPts val="3850"/>
              </a:lnSpc>
              <a:spcBef>
                <a:spcPct val="0"/>
              </a:spcBef>
            </a:pPr>
            <a:r>
              <a:rPr lang="en-US" sz="2400" dirty="0">
                <a:solidFill>
                  <a:schemeClr val="accent1">
                    <a:lumMod val="20000"/>
                    <a:lumOff val="80000"/>
                  </a:schemeClr>
                </a:solidFill>
                <a:sym typeface="HK Grotesk Bold"/>
              </a:rPr>
              <a:t>Test the system for accuracy and performance, and optimize the application for better reliability and user experience</a:t>
            </a:r>
            <a:r>
              <a:rPr lang="en-US" dirty="0">
                <a:sym typeface="HK Grotesk Bold"/>
              </a:rPr>
              <a:t>.</a:t>
            </a:r>
          </a:p>
        </p:txBody>
      </p:sp>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423</TotalTime>
  <Words>672</Words>
  <Application>Microsoft Office PowerPoint</Application>
  <PresentationFormat>Custom</PresentationFormat>
  <Paragraphs>86</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HK Grotesk Bold</vt:lpstr>
      <vt:lpstr>Arial</vt:lpstr>
      <vt:lpstr>Calibri</vt:lpstr>
      <vt:lpstr>Dubai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CheckPoint2</dc:title>
  <dc:creator>POOJA S</dc:creator>
  <cp:lastModifiedBy>POOJA S</cp:lastModifiedBy>
  <cp:revision>2</cp:revision>
  <dcterms:created xsi:type="dcterms:W3CDTF">2006-08-16T00:00:00Z</dcterms:created>
  <dcterms:modified xsi:type="dcterms:W3CDTF">2026-03-05T19:10:11Z</dcterms:modified>
  <dc:identifier>DAHC84CwC7U</dc:identifier>
</cp:coreProperties>
</file>