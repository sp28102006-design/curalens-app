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Arial Narrow" panose="020B0606020202030204" pitchFamily="34" charset="0"/>
      <p:regular r:id="rId12"/>
      <p:bold r:id="rId13"/>
      <p:italic r:id="rId14"/>
      <p:boldItalic r:id="rId15"/>
    </p:embeddedFont>
    <p:embeddedFont>
      <p:font typeface="Broadway" panose="04040905080B02020502" pitchFamily="82" charset="0"/>
      <p:regular r:id="rId16"/>
    </p:embeddedFont>
    <p:embeddedFont>
      <p:font typeface="Dubai" panose="020B0503030403030204" pitchFamily="34" charset="-78"/>
      <p:regular r:id="rId17"/>
      <p:bold r:id="rId18"/>
    </p:embeddedFont>
    <p:embeddedFont>
      <p:font typeface="HK Grotesk Bol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1393A26-AAC2-4346-ADC6-9F46B76D071C}">
          <p14:sldIdLst>
            <p14:sldId id="256"/>
            <p14:sldId id="257"/>
            <p14:sldId id="258"/>
            <p14:sldId id="259"/>
            <p14:sldId id="260"/>
            <p14:sldId id="261"/>
            <p14:sldId id="262"/>
          </p14:sldIdLst>
        </p14:section>
        <p14:section name="Untitled Section" id="{63ED1D4C-F83C-40D8-AF3E-6FD5B5CD23E5}">
          <p14:sldIdLst>
            <p14:sldId id="263"/>
            <p14:sldId id="264"/>
            <p14:sldId id="265"/>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50" d="100"/>
          <a:sy n="50" d="100"/>
        </p:scale>
        <p:origin x="946"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4.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6.sv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grpSp>
        <p:nvGrpSpPr>
          <p:cNvPr id="3" name="Group 3"/>
          <p:cNvGrpSpPr/>
          <p:nvPr/>
        </p:nvGrpSpPr>
        <p:grpSpPr>
          <a:xfrm>
            <a:off x="11891688" y="3122391"/>
            <a:ext cx="5661778" cy="5044403"/>
            <a:chOff x="0" y="0"/>
            <a:chExt cx="912277" cy="812800"/>
          </a:xfrm>
        </p:grpSpPr>
        <p:sp>
          <p:nvSpPr>
            <p:cNvPr id="4" name="Freeform 4"/>
            <p:cNvSpPr/>
            <p:nvPr/>
          </p:nvSpPr>
          <p:spPr>
            <a:xfrm>
              <a:off x="0" y="0"/>
              <a:ext cx="912277" cy="812800"/>
            </a:xfrm>
            <a:custGeom>
              <a:avLst/>
              <a:gdLst/>
              <a:ahLst/>
              <a:cxnLst/>
              <a:rect l="l" t="t" r="r" b="b"/>
              <a:pathLst>
                <a:path w="912277" h="812800">
                  <a:moveTo>
                    <a:pt x="0" y="0"/>
                  </a:moveTo>
                  <a:lnTo>
                    <a:pt x="912277" y="0"/>
                  </a:lnTo>
                  <a:lnTo>
                    <a:pt x="912277" y="812800"/>
                  </a:lnTo>
                  <a:lnTo>
                    <a:pt x="0" y="812800"/>
                  </a:lnTo>
                  <a:close/>
                </a:path>
              </a:pathLst>
            </a:custGeom>
            <a:blipFill>
              <a:blip r:embed="rId2"/>
              <a:stretch>
                <a:fillRect l="-4086" r="-4086"/>
              </a:stretch>
            </a:blipFill>
          </p:spPr>
        </p:sp>
      </p:grpSp>
      <p:sp>
        <p:nvSpPr>
          <p:cNvPr id="6" name="TextBox 6"/>
          <p:cNvSpPr txBox="1"/>
          <p:nvPr/>
        </p:nvSpPr>
        <p:spPr>
          <a:xfrm>
            <a:off x="762778" y="4262216"/>
            <a:ext cx="7571899" cy="4526880"/>
          </a:xfrm>
          <a:prstGeom prst="rect">
            <a:avLst/>
          </a:prstGeom>
        </p:spPr>
        <p:txBody>
          <a:bodyPr lIns="0" tIns="0" rIns="0" bIns="0" rtlCol="0" anchor="t">
            <a:spAutoFit/>
          </a:bodyPr>
          <a:lstStyle/>
          <a:p>
            <a:pPr marL="431798" lvl="1">
              <a:lnSpc>
                <a:spcPts val="4399"/>
              </a:lnSpc>
            </a:pPr>
            <a:r>
              <a:rPr lang="en-US" sz="3999" b="1" dirty="0">
                <a:solidFill>
                  <a:srgbClr val="FFFFFF"/>
                </a:solidFill>
                <a:latin typeface="HK Grotesk Bold"/>
                <a:ea typeface="HK Grotesk Bold"/>
                <a:cs typeface="HK Grotesk Bold"/>
                <a:sym typeface="HK Grotesk Bold"/>
              </a:rPr>
              <a:t>PROBLEM STATEMENT TITLE</a:t>
            </a:r>
          </a:p>
          <a:p>
            <a:pPr marL="431798" lvl="1">
              <a:lnSpc>
                <a:spcPts val="4399"/>
              </a:lnSpc>
            </a:pPr>
            <a:endParaRPr lang="en-US" sz="3999" b="1" dirty="0">
              <a:solidFill>
                <a:srgbClr val="FFFFFF"/>
              </a:solidFill>
              <a:latin typeface="HK Grotesk Bold"/>
              <a:ea typeface="HK Grotesk Bold"/>
              <a:cs typeface="HK Grotesk Bold"/>
              <a:sym typeface="HK Grotesk Bold"/>
            </a:endParaRPr>
          </a:p>
          <a:p>
            <a:pPr marL="431798" lvl="1">
              <a:lnSpc>
                <a:spcPts val="4399"/>
              </a:lnSpc>
            </a:pPr>
            <a:r>
              <a:rPr lang="en-US" sz="4000" dirty="0">
                <a:solidFill>
                  <a:schemeClr val="bg2"/>
                </a:solidFill>
                <a:latin typeface="Dubai" panose="020B0503030403030204" pitchFamily="34" charset="-78"/>
                <a:ea typeface="Alata"/>
                <a:cs typeface="Dubai" panose="020B0503030403030204" pitchFamily="34" charset="-78"/>
              </a:rPr>
              <a:t>Domain Name : Health Care Technology </a:t>
            </a:r>
            <a:br>
              <a:rPr lang="en-US" sz="4000" dirty="0">
                <a:solidFill>
                  <a:schemeClr val="bg2"/>
                </a:solidFill>
                <a:latin typeface="Dubai" panose="020B0503030403030204" pitchFamily="34" charset="-78"/>
                <a:ea typeface="Alata"/>
                <a:cs typeface="Dubai" panose="020B0503030403030204" pitchFamily="34" charset="-78"/>
              </a:rPr>
            </a:br>
            <a:r>
              <a:rPr lang="en-US" sz="4000" dirty="0">
                <a:solidFill>
                  <a:schemeClr val="bg2"/>
                </a:solidFill>
                <a:latin typeface="Dubai" panose="020B0503030403030204" pitchFamily="34" charset="-78"/>
                <a:ea typeface="Alata"/>
                <a:cs typeface="Dubai" panose="020B0503030403030204" pitchFamily="34" charset="-78"/>
              </a:rPr>
              <a:t>Problem Statement : Simplifying Medical Lab Reports </a:t>
            </a:r>
            <a:br>
              <a:rPr lang="en-US" sz="4000" dirty="0">
                <a:solidFill>
                  <a:schemeClr val="bg2"/>
                </a:solidFill>
                <a:latin typeface="Dubai" panose="020B0503030403030204" pitchFamily="34" charset="-78"/>
                <a:ea typeface="Alata"/>
                <a:cs typeface="Dubai" panose="020B0503030403030204" pitchFamily="34" charset="-78"/>
              </a:rPr>
            </a:br>
            <a:r>
              <a:rPr lang="en-US" sz="4000" dirty="0">
                <a:solidFill>
                  <a:schemeClr val="bg2"/>
                </a:solidFill>
                <a:latin typeface="Dubai" panose="020B0503030403030204" pitchFamily="34" charset="-78"/>
                <a:ea typeface="Alata"/>
                <a:cs typeface="Dubai" panose="020B0503030403030204" pitchFamily="34" charset="-78"/>
              </a:rPr>
              <a:t>Team ID : KGH216 </a:t>
            </a:r>
            <a:br>
              <a:rPr lang="en-US" sz="4000" dirty="0">
                <a:solidFill>
                  <a:schemeClr val="bg2"/>
                </a:solidFill>
                <a:latin typeface="Dubai" panose="020B0503030403030204" pitchFamily="34" charset="-78"/>
                <a:ea typeface="Alata"/>
                <a:cs typeface="Dubai" panose="020B0503030403030204" pitchFamily="34" charset="-78"/>
              </a:rPr>
            </a:br>
            <a:r>
              <a:rPr lang="en-US" sz="4000" dirty="0">
                <a:solidFill>
                  <a:schemeClr val="bg2"/>
                </a:solidFill>
                <a:latin typeface="Dubai" panose="020B0503030403030204" pitchFamily="34" charset="-78"/>
                <a:ea typeface="Alata"/>
                <a:cs typeface="Dubai" panose="020B0503030403030204" pitchFamily="34" charset="-78"/>
              </a:rPr>
              <a:t>Team Name : TECH TITANS</a:t>
            </a:r>
            <a:endParaRPr lang="en-US" sz="3999" b="1" dirty="0">
              <a:solidFill>
                <a:schemeClr val="bg2"/>
              </a:solidFill>
              <a:latin typeface="HK Grotesk Bold"/>
              <a:ea typeface="HK Grotesk Bold"/>
              <a:cs typeface="HK Grotesk Bold"/>
              <a:sym typeface="HK Grotesk Bold"/>
            </a:endParaRPr>
          </a:p>
        </p:txBody>
      </p:sp>
      <p:sp>
        <p:nvSpPr>
          <p:cNvPr id="7" name="Freeform 7"/>
          <p:cNvSpPr/>
          <p:nvPr/>
        </p:nvSpPr>
        <p:spPr>
          <a:xfrm>
            <a:off x="-1200296" y="1331401"/>
            <a:ext cx="3062016" cy="2917266"/>
          </a:xfrm>
          <a:custGeom>
            <a:avLst/>
            <a:gdLst/>
            <a:ahLst/>
            <a:cxnLst/>
            <a:rect l="l" t="t" r="r" b="b"/>
            <a:pathLst>
              <a:path w="3062016" h="2917266">
                <a:moveTo>
                  <a:pt x="0" y="0"/>
                </a:moveTo>
                <a:lnTo>
                  <a:pt x="3062015" y="0"/>
                </a:lnTo>
                <a:lnTo>
                  <a:pt x="3062015" y="2917266"/>
                </a:lnTo>
                <a:lnTo>
                  <a:pt x="0" y="291726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8" name="Group 8"/>
          <p:cNvGrpSpPr/>
          <p:nvPr/>
        </p:nvGrpSpPr>
        <p:grpSpPr>
          <a:xfrm>
            <a:off x="15041993" y="441608"/>
            <a:ext cx="1317891" cy="1060450"/>
            <a:chOff x="0" y="0"/>
            <a:chExt cx="912277" cy="734070"/>
          </a:xfrm>
        </p:grpSpPr>
        <p:sp>
          <p:nvSpPr>
            <p:cNvPr id="9" name="Freeform 9"/>
            <p:cNvSpPr/>
            <p:nvPr/>
          </p:nvSpPr>
          <p:spPr>
            <a:xfrm>
              <a:off x="0" y="0"/>
              <a:ext cx="912277" cy="734070"/>
            </a:xfrm>
            <a:custGeom>
              <a:avLst/>
              <a:gdLst/>
              <a:ahLst/>
              <a:cxnLst/>
              <a:rect l="l" t="t" r="r" b="b"/>
              <a:pathLst>
                <a:path w="912277" h="734070">
                  <a:moveTo>
                    <a:pt x="0" y="0"/>
                  </a:moveTo>
                  <a:lnTo>
                    <a:pt x="912277" y="0"/>
                  </a:lnTo>
                  <a:lnTo>
                    <a:pt x="912277" y="734070"/>
                  </a:lnTo>
                  <a:lnTo>
                    <a:pt x="0" y="734070"/>
                  </a:lnTo>
                  <a:close/>
                </a:path>
              </a:pathLst>
            </a:custGeom>
            <a:blipFill>
              <a:blip r:embed="rId2"/>
              <a:stretch>
                <a:fillRect t="-1179" b="-1179"/>
              </a:stretch>
            </a:blipFill>
          </p:spPr>
        </p:sp>
      </p:grpSp>
      <p:sp>
        <p:nvSpPr>
          <p:cNvPr id="10" name="Freeform 10"/>
          <p:cNvSpPr/>
          <p:nvPr/>
        </p:nvSpPr>
        <p:spPr>
          <a:xfrm>
            <a:off x="16359884" y="566257"/>
            <a:ext cx="1798832" cy="811151"/>
          </a:xfrm>
          <a:custGeom>
            <a:avLst/>
            <a:gdLst/>
            <a:ahLst/>
            <a:cxnLst/>
            <a:rect l="l" t="t" r="r" b="b"/>
            <a:pathLst>
              <a:path w="1798832" h="811151">
                <a:moveTo>
                  <a:pt x="0" y="0"/>
                </a:moveTo>
                <a:lnTo>
                  <a:pt x="1798832" y="0"/>
                </a:lnTo>
                <a:lnTo>
                  <a:pt x="1798832" y="811151"/>
                </a:lnTo>
                <a:lnTo>
                  <a:pt x="0" y="811151"/>
                </a:lnTo>
                <a:lnTo>
                  <a:pt x="0" y="0"/>
                </a:lnTo>
                <a:close/>
              </a:path>
            </a:pathLst>
          </a:custGeom>
          <a:blipFill>
            <a:blip r:embed="rId5"/>
            <a:stretch>
              <a:fillRect l="-4113" r="-98552"/>
            </a:stretch>
          </a:blipFill>
        </p:spPr>
      </p:sp>
      <p:sp>
        <p:nvSpPr>
          <p:cNvPr id="11" name="TextBox 11"/>
          <p:cNvSpPr txBox="1"/>
          <p:nvPr/>
        </p:nvSpPr>
        <p:spPr>
          <a:xfrm>
            <a:off x="754256" y="565150"/>
            <a:ext cx="2172912" cy="993775"/>
          </a:xfrm>
          <a:prstGeom prst="rect">
            <a:avLst/>
          </a:prstGeom>
        </p:spPr>
        <p:txBody>
          <a:bodyPr lIns="0" tIns="0" rIns="0" bIns="0" rtlCol="0" anchor="t">
            <a:spAutoFit/>
          </a:bodyPr>
          <a:lstStyle/>
          <a:p>
            <a:pPr marL="0" lvl="0" indent="0" algn="ctr">
              <a:lnSpc>
                <a:spcPts val="7699"/>
              </a:lnSpc>
            </a:pPr>
            <a:r>
              <a:rPr lang="en-US" sz="6999" b="1">
                <a:solidFill>
                  <a:srgbClr val="FFC700"/>
                </a:solidFill>
                <a:latin typeface="HK Grotesk Bold"/>
                <a:ea typeface="HK Grotesk Bold"/>
                <a:cs typeface="HK Grotesk Bold"/>
                <a:sym typeface="HK Grotesk Bold"/>
              </a:rPr>
              <a:t>CP3</a:t>
            </a:r>
          </a:p>
        </p:txBody>
      </p:sp>
      <p:sp>
        <p:nvSpPr>
          <p:cNvPr id="13" name="TextBox 12">
            <a:extLst>
              <a:ext uri="{FF2B5EF4-FFF2-40B4-BE49-F238E27FC236}">
                <a16:creationId xmlns:a16="http://schemas.microsoft.com/office/drawing/2014/main" id="{6C93724B-9530-7E98-8E7C-CAF1DF31B19A}"/>
              </a:ext>
            </a:extLst>
          </p:cNvPr>
          <p:cNvSpPr txBox="1"/>
          <p:nvPr/>
        </p:nvSpPr>
        <p:spPr>
          <a:xfrm>
            <a:off x="4245058" y="190500"/>
            <a:ext cx="9172285" cy="1040541"/>
          </a:xfrm>
          <a:prstGeom prst="rect">
            <a:avLst/>
          </a:prstGeom>
          <a:noFill/>
        </p:spPr>
        <p:txBody>
          <a:bodyPr wrap="square">
            <a:spAutoFit/>
          </a:bodyPr>
          <a:lstStyle/>
          <a:p>
            <a:pPr marL="0" lvl="0" indent="0" algn="ctr">
              <a:lnSpc>
                <a:spcPts val="7699"/>
              </a:lnSpc>
            </a:pPr>
            <a:r>
              <a:rPr lang="en-US" sz="5400" b="1" dirty="0">
                <a:solidFill>
                  <a:srgbClr val="B04B47"/>
                </a:solidFill>
                <a:latin typeface="HK Grotesk Bold"/>
                <a:ea typeface="HK Grotesk Bold"/>
                <a:cs typeface="HK Grotesk Bold"/>
                <a:sym typeface="HK Grotesk Bold"/>
              </a:rPr>
              <a:t>K</a:t>
            </a:r>
            <a:r>
              <a:rPr lang="en-US" sz="5400" b="1" dirty="0">
                <a:solidFill>
                  <a:srgbClr val="F4F6FC"/>
                </a:solidFill>
                <a:latin typeface="HK Grotesk Bold"/>
                <a:ea typeface="HK Grotesk Bold"/>
                <a:cs typeface="HK Grotesk Bold"/>
                <a:sym typeface="HK Grotesk Bold"/>
              </a:rPr>
              <a:t>REATIVE </a:t>
            </a:r>
            <a:r>
              <a:rPr lang="en-US" sz="5400" b="1" dirty="0">
                <a:solidFill>
                  <a:srgbClr val="B04B47"/>
                </a:solidFill>
                <a:latin typeface="HK Grotesk Bold"/>
                <a:ea typeface="HK Grotesk Bold"/>
                <a:cs typeface="HK Grotesk Bold"/>
                <a:sym typeface="HK Grotesk Bold"/>
              </a:rPr>
              <a:t>G</a:t>
            </a:r>
            <a:r>
              <a:rPr lang="en-US" sz="5400" b="1" dirty="0">
                <a:solidFill>
                  <a:srgbClr val="F4F6FC"/>
                </a:solidFill>
                <a:latin typeface="HK Grotesk Bold"/>
                <a:ea typeface="HK Grotesk Bold"/>
                <a:cs typeface="HK Grotesk Bold"/>
                <a:sym typeface="HK Grotesk Bold"/>
              </a:rPr>
              <a:t>ENESIS 2026</a:t>
            </a:r>
          </a:p>
        </p:txBody>
      </p:sp>
    </p:spTree>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sp>
        <p:nvSpPr>
          <p:cNvPr id="2" name="Freeform 2"/>
          <p:cNvSpPr/>
          <p:nvPr/>
        </p:nvSpPr>
        <p:spPr>
          <a:xfrm>
            <a:off x="-2727836" y="6579681"/>
            <a:ext cx="8418204" cy="7760054"/>
          </a:xfrm>
          <a:custGeom>
            <a:avLst/>
            <a:gdLst/>
            <a:ahLst/>
            <a:cxnLst/>
            <a:rect l="l" t="t" r="r" b="b"/>
            <a:pathLst>
              <a:path w="8418204" h="7760054">
                <a:moveTo>
                  <a:pt x="0" y="0"/>
                </a:moveTo>
                <a:lnTo>
                  <a:pt x="8418204" y="0"/>
                </a:lnTo>
                <a:lnTo>
                  <a:pt x="8418204" y="7760054"/>
                </a:lnTo>
                <a:lnTo>
                  <a:pt x="0" y="77600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5041993" y="441608"/>
            <a:ext cx="1317891" cy="1060450"/>
            <a:chOff x="0" y="0"/>
            <a:chExt cx="912277" cy="734070"/>
          </a:xfrm>
        </p:grpSpPr>
        <p:sp>
          <p:nvSpPr>
            <p:cNvPr id="4" name="Freeform 4"/>
            <p:cNvSpPr/>
            <p:nvPr/>
          </p:nvSpPr>
          <p:spPr>
            <a:xfrm>
              <a:off x="0" y="0"/>
              <a:ext cx="912277" cy="734070"/>
            </a:xfrm>
            <a:custGeom>
              <a:avLst/>
              <a:gdLst/>
              <a:ahLst/>
              <a:cxnLst/>
              <a:rect l="l" t="t" r="r" b="b"/>
              <a:pathLst>
                <a:path w="912277" h="734070">
                  <a:moveTo>
                    <a:pt x="0" y="0"/>
                  </a:moveTo>
                  <a:lnTo>
                    <a:pt x="912277" y="0"/>
                  </a:lnTo>
                  <a:lnTo>
                    <a:pt x="912277" y="734070"/>
                  </a:lnTo>
                  <a:lnTo>
                    <a:pt x="0" y="734070"/>
                  </a:lnTo>
                  <a:close/>
                </a:path>
              </a:pathLst>
            </a:custGeom>
            <a:blipFill>
              <a:blip r:embed="rId4"/>
              <a:stretch>
                <a:fillRect t="-1179" b="-1179"/>
              </a:stretch>
            </a:blipFill>
          </p:spPr>
        </p:sp>
      </p:grpSp>
      <p:sp>
        <p:nvSpPr>
          <p:cNvPr id="5" name="Freeform 5"/>
          <p:cNvSpPr/>
          <p:nvPr/>
        </p:nvSpPr>
        <p:spPr>
          <a:xfrm>
            <a:off x="16359884" y="566257"/>
            <a:ext cx="1798832" cy="811151"/>
          </a:xfrm>
          <a:custGeom>
            <a:avLst/>
            <a:gdLst/>
            <a:ahLst/>
            <a:cxnLst/>
            <a:rect l="l" t="t" r="r" b="b"/>
            <a:pathLst>
              <a:path w="1798832" h="811151">
                <a:moveTo>
                  <a:pt x="0" y="0"/>
                </a:moveTo>
                <a:lnTo>
                  <a:pt x="1798832" y="0"/>
                </a:lnTo>
                <a:lnTo>
                  <a:pt x="1798832" y="811151"/>
                </a:lnTo>
                <a:lnTo>
                  <a:pt x="0" y="811151"/>
                </a:lnTo>
                <a:lnTo>
                  <a:pt x="0" y="0"/>
                </a:lnTo>
                <a:close/>
              </a:path>
            </a:pathLst>
          </a:custGeom>
          <a:blipFill>
            <a:blip r:embed="rId5"/>
            <a:stretch>
              <a:fillRect l="-4113" r="-98552"/>
            </a:stretch>
          </a:blipFill>
        </p:spPr>
      </p:sp>
      <p:sp>
        <p:nvSpPr>
          <p:cNvPr id="7" name="TextBox 7"/>
          <p:cNvSpPr txBox="1"/>
          <p:nvPr/>
        </p:nvSpPr>
        <p:spPr>
          <a:xfrm>
            <a:off x="4572000" y="1626708"/>
            <a:ext cx="12630480" cy="7348037"/>
          </a:xfrm>
          <a:prstGeom prst="rect">
            <a:avLst/>
          </a:prstGeom>
        </p:spPr>
        <p:txBody>
          <a:bodyPr wrap="square" lIns="0" tIns="0" rIns="0" bIns="0" rtlCol="0" anchor="t">
            <a:spAutoFit/>
          </a:bodyPr>
          <a:lstStyle/>
          <a:p>
            <a:pPr>
              <a:lnSpc>
                <a:spcPts val="4399"/>
              </a:lnSpc>
            </a:pPr>
            <a:r>
              <a:rPr lang="en-US" sz="4000" b="1" dirty="0">
                <a:solidFill>
                  <a:srgbClr val="FFFFFF"/>
                </a:solidFill>
                <a:ea typeface="HK Grotesk Bold"/>
                <a:cs typeface="HK Grotesk Bold"/>
                <a:sym typeface="HK Grotesk Bold"/>
              </a:rPr>
              <a:t>Problem Overview  </a:t>
            </a:r>
          </a:p>
          <a:p>
            <a:pPr>
              <a:lnSpc>
                <a:spcPts val="4399"/>
              </a:lnSpc>
            </a:pPr>
            <a:endParaRPr lang="en-US" sz="4000" b="1" dirty="0">
              <a:solidFill>
                <a:srgbClr val="FFFFFF"/>
              </a:solidFill>
              <a:ea typeface="HK Grotesk Bold"/>
              <a:cs typeface="HK Grotesk Bold"/>
              <a:sym typeface="HK Grotesk Bold"/>
            </a:endParaRPr>
          </a:p>
          <a:p>
            <a:pPr marL="431798" lvl="1">
              <a:lnSpc>
                <a:spcPts val="4399"/>
              </a:lnSpc>
            </a:pPr>
            <a:r>
              <a:rPr lang="en-US" sz="4000" b="1" dirty="0">
                <a:solidFill>
                  <a:srgbClr val="FFFFFF"/>
                </a:solidFill>
                <a:ea typeface="HK Grotesk Bold"/>
                <a:cs typeface="HK Grotesk Bold"/>
                <a:sym typeface="HK Grotesk Bold"/>
              </a:rPr>
              <a:t>Brief description of the problem :</a:t>
            </a:r>
          </a:p>
          <a:p>
            <a:pPr marL="431798" lvl="1">
              <a:lnSpc>
                <a:spcPts val="4399"/>
              </a:lnSpc>
            </a:pPr>
            <a:r>
              <a:rPr lang="en-US" sz="4000" b="1" dirty="0">
                <a:solidFill>
                  <a:srgbClr val="FFFFFF"/>
                </a:solidFill>
                <a:ea typeface="HK Grotesk Bold"/>
                <a:cs typeface="HK Grotesk Bold"/>
                <a:sym typeface="HK Grotesk Bold"/>
              </a:rPr>
              <a:t>     </a:t>
            </a:r>
            <a:r>
              <a:rPr lang="en-US" sz="4000" dirty="0">
                <a:solidFill>
                  <a:srgbClr val="FFFFFF"/>
                </a:solidFill>
                <a:ea typeface="HK Grotesk Bold"/>
                <a:cs typeface="HK Grotesk Bold"/>
                <a:sym typeface="HK Grotesk Bold"/>
              </a:rPr>
              <a:t>Many patients find it difficult to understand laboratory test reports because they contain complex medical terms and numerical values. This often leads to confusion and anxiety about their health condition.</a:t>
            </a:r>
          </a:p>
          <a:p>
            <a:pPr marL="431798" lvl="1">
              <a:lnSpc>
                <a:spcPts val="4399"/>
              </a:lnSpc>
            </a:pPr>
            <a:endParaRPr lang="en-US" sz="4000" dirty="0">
              <a:solidFill>
                <a:srgbClr val="FFFFFF"/>
              </a:solidFill>
              <a:ea typeface="HK Grotesk Bold"/>
              <a:cs typeface="HK Grotesk Bold"/>
              <a:sym typeface="HK Grotesk Bold"/>
            </a:endParaRPr>
          </a:p>
          <a:p>
            <a:pPr marL="431798" lvl="1">
              <a:lnSpc>
                <a:spcPts val="4399"/>
              </a:lnSpc>
            </a:pPr>
            <a:r>
              <a:rPr lang="en-US" sz="4000" b="1" dirty="0">
                <a:solidFill>
                  <a:srgbClr val="FFFFFF"/>
                </a:solidFill>
                <a:ea typeface="HK Grotesk Bold"/>
                <a:cs typeface="HK Grotesk Bold"/>
                <a:sym typeface="HK Grotesk Bold"/>
              </a:rPr>
              <a:t>Target users or beneficiaries :</a:t>
            </a:r>
          </a:p>
          <a:p>
            <a:pPr marL="431798" lvl="1">
              <a:lnSpc>
                <a:spcPts val="4399"/>
              </a:lnSpc>
            </a:pPr>
            <a:r>
              <a:rPr lang="en-US" sz="4000" b="1" dirty="0">
                <a:solidFill>
                  <a:srgbClr val="FFFFFF"/>
                </a:solidFill>
                <a:ea typeface="HK Grotesk Bold"/>
                <a:cs typeface="HK Grotesk Bold"/>
                <a:sym typeface="HK Grotesk Bold"/>
              </a:rPr>
              <a:t>       </a:t>
            </a:r>
            <a:r>
              <a:rPr lang="en-US" sz="4000" dirty="0">
                <a:solidFill>
                  <a:srgbClr val="FFFFFF"/>
                </a:solidFill>
                <a:ea typeface="HK Grotesk Bold"/>
                <a:cs typeface="HK Grotesk Bold"/>
                <a:sym typeface="HK Grotesk Bold"/>
              </a:rPr>
              <a:t>Patients, individuals without medical knowledge, and junior healthcare professionals who need quick and simple interpretation of lab reports</a:t>
            </a:r>
            <a:r>
              <a:rPr lang="en-US" sz="4000" b="1" dirty="0">
                <a:solidFill>
                  <a:srgbClr val="FFFFFF"/>
                </a:solidFill>
                <a:ea typeface="HK Grotesk Bold"/>
                <a:cs typeface="HK Grotesk Bold"/>
                <a:sym typeface="HK Grotesk Bold"/>
              </a:rPr>
              <a:t>.</a:t>
            </a:r>
          </a:p>
          <a:p>
            <a:pPr algn="l">
              <a:lnSpc>
                <a:spcPts val="4399"/>
              </a:lnSpc>
            </a:pPr>
            <a:endParaRPr lang="en-US" sz="3999" b="1" dirty="0">
              <a:solidFill>
                <a:srgbClr val="FFFFFF"/>
              </a:solidFill>
              <a:latin typeface="HK Grotesk Bold"/>
              <a:ea typeface="HK Grotesk Bold"/>
              <a:cs typeface="HK Grotesk Bold"/>
              <a:sym typeface="HK Grotesk Bold"/>
            </a:endParaRPr>
          </a:p>
        </p:txBody>
      </p:sp>
      <p:sp>
        <p:nvSpPr>
          <p:cNvPr id="8" name="TextBox 8"/>
          <p:cNvSpPr txBox="1"/>
          <p:nvPr/>
        </p:nvSpPr>
        <p:spPr>
          <a:xfrm>
            <a:off x="754256" y="565150"/>
            <a:ext cx="2172912" cy="993775"/>
          </a:xfrm>
          <a:prstGeom prst="rect">
            <a:avLst/>
          </a:prstGeom>
        </p:spPr>
        <p:txBody>
          <a:bodyPr lIns="0" tIns="0" rIns="0" bIns="0" rtlCol="0" anchor="t">
            <a:spAutoFit/>
          </a:bodyPr>
          <a:lstStyle/>
          <a:p>
            <a:pPr marL="0" lvl="0" indent="0" algn="ctr">
              <a:lnSpc>
                <a:spcPts val="7699"/>
              </a:lnSpc>
            </a:pPr>
            <a:r>
              <a:rPr lang="en-US" sz="6999" b="1">
                <a:solidFill>
                  <a:srgbClr val="FFC700"/>
                </a:solidFill>
                <a:latin typeface="HK Grotesk Bold"/>
                <a:ea typeface="HK Grotesk Bold"/>
                <a:cs typeface="HK Grotesk Bold"/>
                <a:sym typeface="HK Grotesk Bold"/>
              </a:rPr>
              <a:t>CP3</a:t>
            </a:r>
          </a:p>
        </p:txBody>
      </p:sp>
    </p:spTree>
  </p:cSld>
  <p:clrMapOvr>
    <a:masterClrMapping/>
  </p:clrMapOvr>
  <p:transition spd="slow">
    <p:randomBar dir="vert"/>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sp>
        <p:nvSpPr>
          <p:cNvPr id="3" name="Freeform 3"/>
          <p:cNvSpPr/>
          <p:nvPr/>
        </p:nvSpPr>
        <p:spPr>
          <a:xfrm>
            <a:off x="-2727836" y="6579681"/>
            <a:ext cx="8418204" cy="7760054"/>
          </a:xfrm>
          <a:custGeom>
            <a:avLst/>
            <a:gdLst/>
            <a:ahLst/>
            <a:cxnLst/>
            <a:rect l="l" t="t" r="r" b="b"/>
            <a:pathLst>
              <a:path w="8418204" h="7760054">
                <a:moveTo>
                  <a:pt x="0" y="0"/>
                </a:moveTo>
                <a:lnTo>
                  <a:pt x="8418204" y="0"/>
                </a:lnTo>
                <a:lnTo>
                  <a:pt x="8418204" y="7760054"/>
                </a:lnTo>
                <a:lnTo>
                  <a:pt x="0" y="77600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4114800" y="1104900"/>
            <a:ext cx="11561557" cy="8948475"/>
          </a:xfrm>
          <a:prstGeom prst="rect">
            <a:avLst/>
          </a:prstGeom>
        </p:spPr>
        <p:txBody>
          <a:bodyPr wrap="square" lIns="0" tIns="0" rIns="0" bIns="0" rtlCol="0" anchor="t">
            <a:spAutoFit/>
          </a:bodyPr>
          <a:lstStyle/>
          <a:p>
            <a:r>
              <a:rPr lang="en-US" sz="3200" b="1" dirty="0">
                <a:solidFill>
                  <a:schemeClr val="bg1"/>
                </a:solidFill>
              </a:rPr>
              <a:t>Solution Overview</a:t>
            </a:r>
          </a:p>
          <a:p>
            <a:endParaRPr lang="en-US" sz="3200" dirty="0">
              <a:solidFill>
                <a:schemeClr val="bg1"/>
              </a:solidFill>
            </a:endParaRPr>
          </a:p>
          <a:p>
            <a:r>
              <a:rPr lang="en-US" sz="3200" b="1" dirty="0">
                <a:solidFill>
                  <a:schemeClr val="bg1"/>
                </a:solidFill>
              </a:rPr>
              <a:t>Short Explanation:</a:t>
            </a:r>
          </a:p>
          <a:p>
            <a:endParaRPr lang="en-US" sz="3200" dirty="0">
              <a:solidFill>
                <a:schemeClr val="bg1"/>
              </a:solidFill>
            </a:endParaRPr>
          </a:p>
          <a:p>
            <a:pPr algn="just"/>
            <a:r>
              <a:rPr lang="en-US" sz="3200" dirty="0">
                <a:solidFill>
                  <a:schemeClr val="bg1"/>
                </a:solidFill>
              </a:rPr>
              <a:t>CURALENS is an AI-assisted laboratory report interpretation system that helps doctors quickly analyze lab reports and generate simplified explanations for patients. The system processes laboratory reports, extracts medical values, and provides insights based on verified medical datasets.</a:t>
            </a:r>
          </a:p>
          <a:p>
            <a:endParaRPr lang="en-US" sz="3200" dirty="0">
              <a:solidFill>
                <a:schemeClr val="bg1"/>
              </a:solidFill>
            </a:endParaRPr>
          </a:p>
          <a:p>
            <a:endParaRPr lang="en-US" sz="3200" b="1" dirty="0">
              <a:solidFill>
                <a:schemeClr val="bg1"/>
              </a:solidFill>
            </a:endParaRPr>
          </a:p>
          <a:p>
            <a:r>
              <a:rPr lang="en-US" sz="3200" b="1" dirty="0">
                <a:solidFill>
                  <a:schemeClr val="bg1"/>
                </a:solidFill>
              </a:rPr>
              <a:t>Key Features:</a:t>
            </a:r>
          </a:p>
          <a:p>
            <a:pPr marL="457200" indent="-457200" algn="just">
              <a:buFont typeface="Arial" panose="020B0604020202020204" pitchFamily="34" charset="0"/>
              <a:buChar char="•"/>
            </a:pPr>
            <a:r>
              <a:rPr lang="en-US" sz="3200" dirty="0">
                <a:solidFill>
                  <a:schemeClr val="bg1"/>
                </a:solidFill>
              </a:rPr>
              <a:t>Automatic lab report reading using OCR</a:t>
            </a:r>
          </a:p>
          <a:p>
            <a:pPr marL="457200" indent="-457200" algn="just">
              <a:buFont typeface="Arial" panose="020B0604020202020204" pitchFamily="34" charset="0"/>
              <a:buChar char="•"/>
            </a:pPr>
            <a:r>
              <a:rPr lang="en-US" sz="3200" dirty="0">
                <a:solidFill>
                  <a:schemeClr val="bg1"/>
                </a:solidFill>
              </a:rPr>
              <a:t> AI-assisted analysis of lab values</a:t>
            </a:r>
          </a:p>
          <a:p>
            <a:pPr marL="457200" indent="-457200" algn="just">
              <a:buFont typeface="Arial" panose="020B0604020202020204" pitchFamily="34" charset="0"/>
              <a:buChar char="•"/>
            </a:pPr>
            <a:r>
              <a:rPr lang="en-US" sz="3200" dirty="0">
                <a:solidFill>
                  <a:schemeClr val="bg1"/>
                </a:solidFill>
              </a:rPr>
              <a:t> Doctor verification of medical insights</a:t>
            </a:r>
          </a:p>
          <a:p>
            <a:pPr marL="457200" indent="-457200" algn="just">
              <a:buFont typeface="Arial" panose="020B0604020202020204" pitchFamily="34" charset="0"/>
              <a:buChar char="•"/>
            </a:pPr>
            <a:r>
              <a:rPr lang="en-US" sz="3200" dirty="0">
                <a:solidFill>
                  <a:schemeClr val="bg1"/>
                </a:solidFill>
              </a:rPr>
              <a:t> Structured medical datasets for accurate analysis</a:t>
            </a:r>
          </a:p>
          <a:p>
            <a:pPr marL="457200" indent="-457200" algn="just">
              <a:buFont typeface="Arial" panose="020B0604020202020204" pitchFamily="34" charset="0"/>
              <a:buChar char="•"/>
            </a:pPr>
            <a:r>
              <a:rPr lang="en-US" sz="3200" dirty="0">
                <a:solidFill>
                  <a:schemeClr val="bg1"/>
                </a:solidFill>
              </a:rPr>
              <a:t>Clear explanations that doctors can share with patients</a:t>
            </a:r>
            <a:endParaRPr lang="en-IN" sz="3200" dirty="0">
              <a:solidFill>
                <a:schemeClr val="bg1"/>
              </a:solidFill>
            </a:endParaRPr>
          </a:p>
          <a:p>
            <a:pPr algn="l">
              <a:lnSpc>
                <a:spcPts val="4399"/>
              </a:lnSpc>
              <a:spcBef>
                <a:spcPct val="0"/>
              </a:spcBef>
            </a:pPr>
            <a:endParaRPr lang="en-US" sz="3999" b="1" dirty="0">
              <a:solidFill>
                <a:srgbClr val="FFFFFF"/>
              </a:solidFill>
              <a:latin typeface="HK Grotesk Bold"/>
              <a:ea typeface="HK Grotesk Bold"/>
              <a:cs typeface="HK Grotesk Bold"/>
              <a:sym typeface="HK Grotesk Bold"/>
            </a:endParaRPr>
          </a:p>
        </p:txBody>
      </p:sp>
      <p:grpSp>
        <p:nvGrpSpPr>
          <p:cNvPr id="5" name="Group 5"/>
          <p:cNvGrpSpPr/>
          <p:nvPr/>
        </p:nvGrpSpPr>
        <p:grpSpPr>
          <a:xfrm>
            <a:off x="15041993" y="441608"/>
            <a:ext cx="1317891" cy="1060450"/>
            <a:chOff x="0" y="0"/>
            <a:chExt cx="912277" cy="734070"/>
          </a:xfrm>
        </p:grpSpPr>
        <p:sp>
          <p:nvSpPr>
            <p:cNvPr id="6" name="Freeform 6"/>
            <p:cNvSpPr/>
            <p:nvPr/>
          </p:nvSpPr>
          <p:spPr>
            <a:xfrm>
              <a:off x="0" y="0"/>
              <a:ext cx="912277" cy="734070"/>
            </a:xfrm>
            <a:custGeom>
              <a:avLst/>
              <a:gdLst/>
              <a:ahLst/>
              <a:cxnLst/>
              <a:rect l="l" t="t" r="r" b="b"/>
              <a:pathLst>
                <a:path w="912277" h="734070">
                  <a:moveTo>
                    <a:pt x="0" y="0"/>
                  </a:moveTo>
                  <a:lnTo>
                    <a:pt x="912277" y="0"/>
                  </a:lnTo>
                  <a:lnTo>
                    <a:pt x="912277" y="734070"/>
                  </a:lnTo>
                  <a:lnTo>
                    <a:pt x="0" y="734070"/>
                  </a:lnTo>
                  <a:close/>
                </a:path>
              </a:pathLst>
            </a:custGeom>
            <a:blipFill>
              <a:blip r:embed="rId4"/>
              <a:stretch>
                <a:fillRect t="-1179" b="-1179"/>
              </a:stretch>
            </a:blipFill>
          </p:spPr>
        </p:sp>
      </p:grpSp>
      <p:sp>
        <p:nvSpPr>
          <p:cNvPr id="7" name="Freeform 7"/>
          <p:cNvSpPr/>
          <p:nvPr/>
        </p:nvSpPr>
        <p:spPr>
          <a:xfrm>
            <a:off x="16359884" y="566257"/>
            <a:ext cx="1798832" cy="811151"/>
          </a:xfrm>
          <a:custGeom>
            <a:avLst/>
            <a:gdLst/>
            <a:ahLst/>
            <a:cxnLst/>
            <a:rect l="l" t="t" r="r" b="b"/>
            <a:pathLst>
              <a:path w="1798832" h="811151">
                <a:moveTo>
                  <a:pt x="0" y="0"/>
                </a:moveTo>
                <a:lnTo>
                  <a:pt x="1798832" y="0"/>
                </a:lnTo>
                <a:lnTo>
                  <a:pt x="1798832" y="811151"/>
                </a:lnTo>
                <a:lnTo>
                  <a:pt x="0" y="811151"/>
                </a:lnTo>
                <a:lnTo>
                  <a:pt x="0" y="0"/>
                </a:lnTo>
                <a:close/>
              </a:path>
            </a:pathLst>
          </a:custGeom>
          <a:blipFill>
            <a:blip r:embed="rId5"/>
            <a:stretch>
              <a:fillRect l="-4113" r="-98552"/>
            </a:stretch>
          </a:blipFill>
        </p:spPr>
      </p:sp>
      <p:sp>
        <p:nvSpPr>
          <p:cNvPr id="8" name="TextBox 8"/>
          <p:cNvSpPr txBox="1"/>
          <p:nvPr/>
        </p:nvSpPr>
        <p:spPr>
          <a:xfrm>
            <a:off x="754256" y="565150"/>
            <a:ext cx="2172912" cy="993775"/>
          </a:xfrm>
          <a:prstGeom prst="rect">
            <a:avLst/>
          </a:prstGeom>
        </p:spPr>
        <p:txBody>
          <a:bodyPr lIns="0" tIns="0" rIns="0" bIns="0" rtlCol="0" anchor="t">
            <a:spAutoFit/>
          </a:bodyPr>
          <a:lstStyle/>
          <a:p>
            <a:pPr marL="0" lvl="0" indent="0" algn="ctr">
              <a:lnSpc>
                <a:spcPts val="7699"/>
              </a:lnSpc>
            </a:pPr>
            <a:r>
              <a:rPr lang="en-US" sz="6999" b="1">
                <a:solidFill>
                  <a:srgbClr val="FFC700"/>
                </a:solidFill>
                <a:latin typeface="HK Grotesk Bold"/>
                <a:ea typeface="HK Grotesk Bold"/>
                <a:cs typeface="HK Grotesk Bold"/>
                <a:sym typeface="HK Grotesk Bold"/>
              </a:rPr>
              <a:t>CP3</a:t>
            </a:r>
          </a:p>
        </p:txBody>
      </p:sp>
    </p:spTree>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sp>
        <p:nvSpPr>
          <p:cNvPr id="3" name="Freeform 3"/>
          <p:cNvSpPr/>
          <p:nvPr/>
        </p:nvSpPr>
        <p:spPr>
          <a:xfrm>
            <a:off x="-2727836" y="6579681"/>
            <a:ext cx="8418204" cy="7760054"/>
          </a:xfrm>
          <a:custGeom>
            <a:avLst/>
            <a:gdLst/>
            <a:ahLst/>
            <a:cxnLst/>
            <a:rect l="l" t="t" r="r" b="b"/>
            <a:pathLst>
              <a:path w="8418204" h="7760054">
                <a:moveTo>
                  <a:pt x="0" y="0"/>
                </a:moveTo>
                <a:lnTo>
                  <a:pt x="8418204" y="0"/>
                </a:lnTo>
                <a:lnTo>
                  <a:pt x="8418204" y="7760054"/>
                </a:lnTo>
                <a:lnTo>
                  <a:pt x="0" y="776005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3146244" y="508283"/>
            <a:ext cx="15141757" cy="1141210"/>
          </a:xfrm>
          <a:prstGeom prst="rect">
            <a:avLst/>
          </a:prstGeom>
        </p:spPr>
        <p:txBody>
          <a:bodyPr wrap="square" lIns="0" tIns="0" rIns="0" bIns="0" rtlCol="0" anchor="t">
            <a:spAutoFit/>
          </a:bodyPr>
          <a:lstStyle/>
          <a:p>
            <a:pPr algn="l">
              <a:lnSpc>
                <a:spcPts val="4399"/>
              </a:lnSpc>
              <a:spcBef>
                <a:spcPct val="0"/>
              </a:spcBef>
            </a:pPr>
            <a:r>
              <a:rPr lang="en-US" sz="2800" b="1" dirty="0">
                <a:solidFill>
                  <a:srgbClr val="FFFFFF"/>
                </a:solidFill>
                <a:ea typeface="HK Grotesk Bold"/>
                <a:cs typeface="HK Grotesk Bold"/>
                <a:sym typeface="HK Grotesk Bold"/>
              </a:rPr>
              <a:t>System Architecture </a:t>
            </a:r>
            <a:r>
              <a:rPr lang="en-US" sz="3999" b="1" dirty="0">
                <a:solidFill>
                  <a:srgbClr val="FFFFFF"/>
                </a:solidFill>
                <a:latin typeface="HK Grotesk Bold"/>
                <a:ea typeface="HK Grotesk Bold"/>
                <a:cs typeface="HK Grotesk Bold"/>
                <a:sym typeface="HK Grotesk Bold"/>
              </a:rPr>
              <a:t>:</a:t>
            </a:r>
          </a:p>
          <a:p>
            <a:pPr algn="l">
              <a:lnSpc>
                <a:spcPts val="4399"/>
              </a:lnSpc>
              <a:spcBef>
                <a:spcPct val="0"/>
              </a:spcBef>
            </a:pPr>
            <a:endParaRPr lang="en-US" sz="3999" b="1" dirty="0">
              <a:solidFill>
                <a:srgbClr val="FFFFFF"/>
              </a:solidFill>
              <a:latin typeface="HK Grotesk Bold"/>
              <a:ea typeface="HK Grotesk Bold"/>
              <a:cs typeface="HK Grotesk Bold"/>
              <a:sym typeface="HK Grotesk Bold"/>
            </a:endParaRPr>
          </a:p>
        </p:txBody>
      </p:sp>
      <p:grpSp>
        <p:nvGrpSpPr>
          <p:cNvPr id="5" name="Group 5"/>
          <p:cNvGrpSpPr/>
          <p:nvPr/>
        </p:nvGrpSpPr>
        <p:grpSpPr>
          <a:xfrm>
            <a:off x="15041993" y="441608"/>
            <a:ext cx="1317891" cy="1060450"/>
            <a:chOff x="0" y="0"/>
            <a:chExt cx="912277" cy="734070"/>
          </a:xfrm>
        </p:grpSpPr>
        <p:sp>
          <p:nvSpPr>
            <p:cNvPr id="6" name="Freeform 6"/>
            <p:cNvSpPr/>
            <p:nvPr/>
          </p:nvSpPr>
          <p:spPr>
            <a:xfrm>
              <a:off x="0" y="0"/>
              <a:ext cx="912277" cy="734070"/>
            </a:xfrm>
            <a:custGeom>
              <a:avLst/>
              <a:gdLst/>
              <a:ahLst/>
              <a:cxnLst/>
              <a:rect l="l" t="t" r="r" b="b"/>
              <a:pathLst>
                <a:path w="912277" h="734070">
                  <a:moveTo>
                    <a:pt x="0" y="0"/>
                  </a:moveTo>
                  <a:lnTo>
                    <a:pt x="912277" y="0"/>
                  </a:lnTo>
                  <a:lnTo>
                    <a:pt x="912277" y="734070"/>
                  </a:lnTo>
                  <a:lnTo>
                    <a:pt x="0" y="734070"/>
                  </a:lnTo>
                  <a:close/>
                </a:path>
              </a:pathLst>
            </a:custGeom>
            <a:blipFill>
              <a:blip r:embed="rId4"/>
              <a:stretch>
                <a:fillRect t="-1179" b="-1179"/>
              </a:stretch>
            </a:blipFill>
          </p:spPr>
        </p:sp>
      </p:grpSp>
      <p:sp>
        <p:nvSpPr>
          <p:cNvPr id="7" name="Freeform 7"/>
          <p:cNvSpPr/>
          <p:nvPr/>
        </p:nvSpPr>
        <p:spPr>
          <a:xfrm>
            <a:off x="16359884" y="566257"/>
            <a:ext cx="1798832" cy="811151"/>
          </a:xfrm>
          <a:custGeom>
            <a:avLst/>
            <a:gdLst/>
            <a:ahLst/>
            <a:cxnLst/>
            <a:rect l="l" t="t" r="r" b="b"/>
            <a:pathLst>
              <a:path w="1798832" h="811151">
                <a:moveTo>
                  <a:pt x="0" y="0"/>
                </a:moveTo>
                <a:lnTo>
                  <a:pt x="1798832" y="0"/>
                </a:lnTo>
                <a:lnTo>
                  <a:pt x="1798832" y="811151"/>
                </a:lnTo>
                <a:lnTo>
                  <a:pt x="0" y="811151"/>
                </a:lnTo>
                <a:lnTo>
                  <a:pt x="0" y="0"/>
                </a:lnTo>
                <a:close/>
              </a:path>
            </a:pathLst>
          </a:custGeom>
          <a:blipFill>
            <a:blip r:embed="rId5"/>
            <a:stretch>
              <a:fillRect l="-4113" r="-98552"/>
            </a:stretch>
          </a:blipFill>
        </p:spPr>
      </p:sp>
      <p:sp>
        <p:nvSpPr>
          <p:cNvPr id="8" name="TextBox 8"/>
          <p:cNvSpPr txBox="1"/>
          <p:nvPr/>
        </p:nvSpPr>
        <p:spPr>
          <a:xfrm>
            <a:off x="754256" y="565150"/>
            <a:ext cx="2172912" cy="993775"/>
          </a:xfrm>
          <a:prstGeom prst="rect">
            <a:avLst/>
          </a:prstGeom>
        </p:spPr>
        <p:txBody>
          <a:bodyPr lIns="0" tIns="0" rIns="0" bIns="0" rtlCol="0" anchor="t">
            <a:spAutoFit/>
          </a:bodyPr>
          <a:lstStyle/>
          <a:p>
            <a:pPr marL="0" lvl="0" indent="0" algn="ctr">
              <a:lnSpc>
                <a:spcPts val="7699"/>
              </a:lnSpc>
            </a:pPr>
            <a:r>
              <a:rPr lang="en-US" sz="6999" b="1">
                <a:solidFill>
                  <a:srgbClr val="FFC700"/>
                </a:solidFill>
                <a:latin typeface="HK Grotesk Bold"/>
                <a:ea typeface="HK Grotesk Bold"/>
                <a:cs typeface="HK Grotesk Bold"/>
                <a:sym typeface="HK Grotesk Bold"/>
              </a:rPr>
              <a:t>CP3</a:t>
            </a:r>
          </a:p>
        </p:txBody>
      </p:sp>
      <p:pic>
        <p:nvPicPr>
          <p:cNvPr id="10" name="Picture 9">
            <a:extLst>
              <a:ext uri="{FF2B5EF4-FFF2-40B4-BE49-F238E27FC236}">
                <a16:creationId xmlns:a16="http://schemas.microsoft.com/office/drawing/2014/main" id="{D6967B13-8FE4-9D0F-63ED-AA97441D224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629400" y="1483623"/>
            <a:ext cx="5844349" cy="84769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sp>
        <p:nvSpPr>
          <p:cNvPr id="4" name="TextBox 4"/>
          <p:cNvSpPr txBox="1"/>
          <p:nvPr/>
        </p:nvSpPr>
        <p:spPr>
          <a:xfrm>
            <a:off x="6019800" y="441608"/>
            <a:ext cx="11125199" cy="8976625"/>
          </a:xfrm>
          <a:prstGeom prst="rect">
            <a:avLst/>
          </a:prstGeom>
        </p:spPr>
        <p:txBody>
          <a:bodyPr wrap="square" lIns="0" tIns="0" rIns="0" bIns="0" rtlCol="0" anchor="t">
            <a:spAutoFit/>
          </a:bodyPr>
          <a:lstStyle/>
          <a:p>
            <a:pPr algn="l">
              <a:lnSpc>
                <a:spcPts val="4399"/>
              </a:lnSpc>
              <a:spcBef>
                <a:spcPct val="0"/>
              </a:spcBef>
            </a:pPr>
            <a:endParaRPr lang="en-US" sz="3999" b="1" dirty="0">
              <a:solidFill>
                <a:srgbClr val="FFFFFF"/>
              </a:solidFill>
              <a:latin typeface="HK Grotesk Bold"/>
              <a:ea typeface="HK Grotesk Bold"/>
              <a:cs typeface="HK Grotesk Bold"/>
              <a:sym typeface="HK Grotesk Bold"/>
            </a:endParaRPr>
          </a:p>
          <a:p>
            <a:pPr>
              <a:lnSpc>
                <a:spcPts val="4399"/>
              </a:lnSpc>
              <a:spcBef>
                <a:spcPct val="0"/>
              </a:spcBef>
            </a:pPr>
            <a:r>
              <a:rPr lang="en-US" sz="2800" b="1" dirty="0">
                <a:solidFill>
                  <a:srgbClr val="FFFFFF"/>
                </a:solidFill>
                <a:ea typeface="HK Grotesk Bold"/>
                <a:cs typeface="HK Grotesk Bold"/>
                <a:sym typeface="HK Grotesk Bold"/>
              </a:rPr>
              <a:t>Prototype Demonstration</a:t>
            </a:r>
          </a:p>
          <a:p>
            <a:pPr algn="just">
              <a:lnSpc>
                <a:spcPts val="4399"/>
              </a:lnSpc>
              <a:spcBef>
                <a:spcPct val="0"/>
              </a:spcBef>
            </a:pPr>
            <a:r>
              <a:rPr lang="en-US" sz="2400" dirty="0">
                <a:solidFill>
                  <a:srgbClr val="FFFFFF"/>
                </a:solidFill>
                <a:ea typeface="HK Grotesk Bold"/>
                <a:cs typeface="HK Grotesk Bold"/>
                <a:sym typeface="HK Grotesk Bold"/>
              </a:rPr>
              <a:t>The current prototype of CURALENS shows the progress of the system in analyzing laboratory reports.</a:t>
            </a:r>
          </a:p>
          <a:p>
            <a:pPr algn="just">
              <a:lnSpc>
                <a:spcPts val="4399"/>
              </a:lnSpc>
              <a:spcBef>
                <a:spcPct val="0"/>
              </a:spcBef>
            </a:pPr>
            <a:r>
              <a:rPr lang="en-US" sz="2400" b="1" dirty="0">
                <a:solidFill>
                  <a:srgbClr val="FFFFFF"/>
                </a:solidFill>
                <a:ea typeface="HK Grotesk Bold"/>
                <a:cs typeface="HK Grotesk Bold"/>
                <a:sym typeface="HK Grotesk Bold"/>
              </a:rPr>
              <a:t>Screenshots of the Application:</a:t>
            </a:r>
          </a:p>
          <a:p>
            <a:pPr algn="just">
              <a:lnSpc>
                <a:spcPts val="4399"/>
              </a:lnSpc>
              <a:spcBef>
                <a:spcPct val="0"/>
              </a:spcBef>
            </a:pPr>
            <a:r>
              <a:rPr lang="en-US" sz="2400" b="1" dirty="0">
                <a:solidFill>
                  <a:srgbClr val="FFFFFF"/>
                </a:solidFill>
                <a:ea typeface="HK Grotesk Bold"/>
                <a:cs typeface="HK Grotesk Bold"/>
                <a:sym typeface="HK Grotesk Bold"/>
              </a:rPr>
              <a:t>    </a:t>
            </a:r>
            <a:r>
              <a:rPr lang="en-US" sz="2400" dirty="0">
                <a:solidFill>
                  <a:srgbClr val="FFFFFF"/>
                </a:solidFill>
                <a:ea typeface="HK Grotesk Bold"/>
                <a:cs typeface="HK Grotesk Bold"/>
                <a:sym typeface="HK Grotesk Bold"/>
              </a:rPr>
              <a:t>The prototype includes UI screens such as the dashboard, report upload page, and analysis page where users can view interpreted results.</a:t>
            </a:r>
          </a:p>
          <a:p>
            <a:pPr algn="just">
              <a:lnSpc>
                <a:spcPts val="4399"/>
              </a:lnSpc>
              <a:spcBef>
                <a:spcPct val="0"/>
              </a:spcBef>
            </a:pPr>
            <a:endParaRPr lang="en-US" sz="2400" b="1" dirty="0">
              <a:solidFill>
                <a:srgbClr val="FFFFFF"/>
              </a:solidFill>
              <a:ea typeface="HK Grotesk Bold"/>
              <a:cs typeface="HK Grotesk Bold"/>
              <a:sym typeface="HK Grotesk Bold"/>
            </a:endParaRPr>
          </a:p>
          <a:p>
            <a:pPr algn="just">
              <a:lnSpc>
                <a:spcPts val="4399"/>
              </a:lnSpc>
              <a:spcBef>
                <a:spcPct val="0"/>
              </a:spcBef>
            </a:pPr>
            <a:r>
              <a:rPr lang="en-US" sz="2400" b="1" dirty="0">
                <a:solidFill>
                  <a:srgbClr val="FFFFFF"/>
                </a:solidFill>
                <a:ea typeface="HK Grotesk Bold"/>
                <a:cs typeface="HK Grotesk Bold"/>
                <a:sym typeface="HK Grotesk Bold"/>
              </a:rPr>
              <a:t>Working Modules:</a:t>
            </a:r>
          </a:p>
          <a:p>
            <a:pPr algn="just">
              <a:lnSpc>
                <a:spcPts val="4399"/>
              </a:lnSpc>
              <a:spcBef>
                <a:spcPct val="0"/>
              </a:spcBef>
            </a:pPr>
            <a:r>
              <a:rPr lang="en-US" sz="2400" b="1" dirty="0">
                <a:solidFill>
                  <a:srgbClr val="FFFFFF"/>
                </a:solidFill>
                <a:ea typeface="HK Grotesk Bold"/>
                <a:cs typeface="HK Grotesk Bold"/>
                <a:sym typeface="HK Grotesk Bold"/>
              </a:rPr>
              <a:t>     </a:t>
            </a:r>
            <a:r>
              <a:rPr lang="en-US" sz="2400" dirty="0">
                <a:solidFill>
                  <a:srgbClr val="FFFFFF"/>
                </a:solidFill>
                <a:ea typeface="HK Grotesk Bold"/>
                <a:cs typeface="HK Grotesk Bold"/>
                <a:sym typeface="HK Grotesk Bold"/>
              </a:rPr>
              <a:t>Report upload module</a:t>
            </a:r>
          </a:p>
          <a:p>
            <a:pPr algn="just">
              <a:lnSpc>
                <a:spcPts val="4399"/>
              </a:lnSpc>
              <a:spcBef>
                <a:spcPct val="0"/>
              </a:spcBef>
            </a:pPr>
            <a:r>
              <a:rPr lang="en-US" sz="2400" dirty="0">
                <a:solidFill>
                  <a:srgbClr val="FFFFFF"/>
                </a:solidFill>
                <a:ea typeface="HK Grotesk Bold"/>
                <a:cs typeface="HK Grotesk Bold"/>
                <a:sym typeface="HK Grotesk Bold"/>
              </a:rPr>
              <a:t>      OCR text extraction module</a:t>
            </a:r>
          </a:p>
          <a:p>
            <a:pPr algn="just">
              <a:lnSpc>
                <a:spcPts val="4399"/>
              </a:lnSpc>
              <a:spcBef>
                <a:spcPct val="0"/>
              </a:spcBef>
            </a:pPr>
            <a:r>
              <a:rPr lang="en-US" sz="2400" dirty="0">
                <a:solidFill>
                  <a:srgbClr val="FFFFFF"/>
                </a:solidFill>
                <a:ea typeface="HK Grotesk Bold"/>
                <a:cs typeface="HK Grotesk Bold"/>
                <a:sym typeface="HK Grotesk Bold"/>
              </a:rPr>
              <a:t>      AI analysis module</a:t>
            </a:r>
          </a:p>
          <a:p>
            <a:pPr algn="just">
              <a:lnSpc>
                <a:spcPts val="4399"/>
              </a:lnSpc>
              <a:spcBef>
                <a:spcPct val="0"/>
              </a:spcBef>
            </a:pPr>
            <a:r>
              <a:rPr lang="en-US" sz="2400" dirty="0">
                <a:solidFill>
                  <a:srgbClr val="FFFFFF"/>
                </a:solidFill>
                <a:ea typeface="HK Grotesk Bold"/>
                <a:cs typeface="HK Grotesk Bold"/>
                <a:sym typeface="HK Grotesk Bold"/>
              </a:rPr>
              <a:t>      Dashboard for displaying results</a:t>
            </a:r>
          </a:p>
          <a:p>
            <a:pPr algn="just">
              <a:lnSpc>
                <a:spcPts val="4399"/>
              </a:lnSpc>
              <a:spcBef>
                <a:spcPct val="0"/>
              </a:spcBef>
            </a:pPr>
            <a:r>
              <a:rPr lang="en-US" sz="2400" b="1" dirty="0">
                <a:solidFill>
                  <a:srgbClr val="FFFFFF"/>
                </a:solidFill>
                <a:ea typeface="HK Grotesk Bold"/>
                <a:cs typeface="HK Grotesk Bold"/>
                <a:sym typeface="HK Grotesk Bold"/>
              </a:rPr>
              <a:t>Interaction Between Components:</a:t>
            </a:r>
          </a:p>
          <a:p>
            <a:pPr algn="just">
              <a:lnSpc>
                <a:spcPts val="4399"/>
              </a:lnSpc>
              <a:spcBef>
                <a:spcPct val="0"/>
              </a:spcBef>
            </a:pPr>
            <a:r>
              <a:rPr lang="en-US" sz="2400" b="1" dirty="0">
                <a:solidFill>
                  <a:srgbClr val="FFFFFF"/>
                </a:solidFill>
                <a:ea typeface="HK Grotesk Bold"/>
                <a:cs typeface="HK Grotesk Bold"/>
                <a:sym typeface="HK Grotesk Bold"/>
              </a:rPr>
              <a:t>        </a:t>
            </a:r>
            <a:r>
              <a:rPr lang="en-US" sz="2400" dirty="0">
                <a:solidFill>
                  <a:srgbClr val="FFFFFF"/>
                </a:solidFill>
                <a:ea typeface="HK Grotesk Bold"/>
                <a:cs typeface="HK Grotesk Bold"/>
                <a:sym typeface="HK Grotesk Bold"/>
              </a:rPr>
              <a:t>User uploads a report → OCR extracts lab values → AI compares values with medical datasets → results are displayed on the dashboard and reviewed by doctors.</a:t>
            </a:r>
            <a:endParaRPr lang="en-US" sz="2400" b="1" dirty="0">
              <a:solidFill>
                <a:srgbClr val="FFFFFF"/>
              </a:solidFill>
              <a:latin typeface="HK Grotesk Bold"/>
              <a:ea typeface="HK Grotesk Bold"/>
              <a:cs typeface="HK Grotesk Bold"/>
              <a:sym typeface="HK Grotesk Bold"/>
            </a:endParaRPr>
          </a:p>
        </p:txBody>
      </p:sp>
      <p:grpSp>
        <p:nvGrpSpPr>
          <p:cNvPr id="5" name="Group 5"/>
          <p:cNvGrpSpPr/>
          <p:nvPr/>
        </p:nvGrpSpPr>
        <p:grpSpPr>
          <a:xfrm>
            <a:off x="15041993" y="441608"/>
            <a:ext cx="1317891" cy="1060450"/>
            <a:chOff x="0" y="0"/>
            <a:chExt cx="912277" cy="734070"/>
          </a:xfrm>
        </p:grpSpPr>
        <p:sp>
          <p:nvSpPr>
            <p:cNvPr id="6" name="Freeform 6"/>
            <p:cNvSpPr/>
            <p:nvPr/>
          </p:nvSpPr>
          <p:spPr>
            <a:xfrm>
              <a:off x="0" y="0"/>
              <a:ext cx="912277" cy="734070"/>
            </a:xfrm>
            <a:custGeom>
              <a:avLst/>
              <a:gdLst/>
              <a:ahLst/>
              <a:cxnLst/>
              <a:rect l="l" t="t" r="r" b="b"/>
              <a:pathLst>
                <a:path w="912277" h="734070">
                  <a:moveTo>
                    <a:pt x="0" y="0"/>
                  </a:moveTo>
                  <a:lnTo>
                    <a:pt x="912277" y="0"/>
                  </a:lnTo>
                  <a:lnTo>
                    <a:pt x="912277" y="734070"/>
                  </a:lnTo>
                  <a:lnTo>
                    <a:pt x="0" y="734070"/>
                  </a:lnTo>
                  <a:close/>
                </a:path>
              </a:pathLst>
            </a:custGeom>
            <a:blipFill>
              <a:blip r:embed="rId2"/>
              <a:stretch>
                <a:fillRect t="-1179" b="-1179"/>
              </a:stretch>
            </a:blipFill>
          </p:spPr>
        </p:sp>
      </p:grpSp>
      <p:sp>
        <p:nvSpPr>
          <p:cNvPr id="7" name="Freeform 7"/>
          <p:cNvSpPr/>
          <p:nvPr/>
        </p:nvSpPr>
        <p:spPr>
          <a:xfrm>
            <a:off x="16359884" y="566257"/>
            <a:ext cx="1798832" cy="811151"/>
          </a:xfrm>
          <a:custGeom>
            <a:avLst/>
            <a:gdLst/>
            <a:ahLst/>
            <a:cxnLst/>
            <a:rect l="l" t="t" r="r" b="b"/>
            <a:pathLst>
              <a:path w="1798832" h="811151">
                <a:moveTo>
                  <a:pt x="0" y="0"/>
                </a:moveTo>
                <a:lnTo>
                  <a:pt x="1798832" y="0"/>
                </a:lnTo>
                <a:lnTo>
                  <a:pt x="1798832" y="811151"/>
                </a:lnTo>
                <a:lnTo>
                  <a:pt x="0" y="811151"/>
                </a:lnTo>
                <a:lnTo>
                  <a:pt x="0" y="0"/>
                </a:lnTo>
                <a:close/>
              </a:path>
            </a:pathLst>
          </a:custGeom>
          <a:blipFill>
            <a:blip r:embed="rId3"/>
            <a:stretch>
              <a:fillRect l="-4113" r="-98552"/>
            </a:stretch>
          </a:blipFill>
        </p:spPr>
      </p:sp>
      <p:pic>
        <p:nvPicPr>
          <p:cNvPr id="9" name="Picture 8">
            <a:extLst>
              <a:ext uri="{FF2B5EF4-FFF2-40B4-BE49-F238E27FC236}">
                <a16:creationId xmlns:a16="http://schemas.microsoft.com/office/drawing/2014/main" id="{B6E709FC-1E56-3C08-5814-A7AA263ABB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7288" y="1257300"/>
            <a:ext cx="5427354" cy="7559176"/>
          </a:xfrm>
          <a:prstGeom prst="rect">
            <a:avLst/>
          </a:prstGeom>
        </p:spPr>
      </p:pic>
      <p:pic>
        <p:nvPicPr>
          <p:cNvPr id="10" name="Picture 9">
            <a:extLst>
              <a:ext uri="{FF2B5EF4-FFF2-40B4-BE49-F238E27FC236}">
                <a16:creationId xmlns:a16="http://schemas.microsoft.com/office/drawing/2014/main" id="{F4ADE383-5116-89A0-F7EC-E9D43EB3CA5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744200" y="4533900"/>
            <a:ext cx="5980211" cy="3718834"/>
          </a:xfrm>
          <a:prstGeom prst="rect">
            <a:avLst/>
          </a:prstGeom>
          <a:ln w="228600" cap="sq" cmpd="thickThin">
            <a:solidFill>
              <a:srgbClr val="000000"/>
            </a:solidFill>
            <a:prstDash val="solid"/>
            <a:miter lim="800000"/>
          </a:ln>
          <a:effectLst>
            <a:innerShdw blurRad="76200">
              <a:srgbClr val="000000"/>
            </a:innerShdw>
          </a:effectLst>
        </p:spPr>
      </p:pic>
    </p:spTree>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grpSp>
        <p:nvGrpSpPr>
          <p:cNvPr id="2" name="Group 2"/>
          <p:cNvGrpSpPr/>
          <p:nvPr/>
        </p:nvGrpSpPr>
        <p:grpSpPr>
          <a:xfrm>
            <a:off x="15041993" y="441608"/>
            <a:ext cx="1317891" cy="1060450"/>
            <a:chOff x="0" y="0"/>
            <a:chExt cx="912277" cy="734070"/>
          </a:xfrm>
        </p:grpSpPr>
        <p:sp>
          <p:nvSpPr>
            <p:cNvPr id="3" name="Freeform 3"/>
            <p:cNvSpPr/>
            <p:nvPr/>
          </p:nvSpPr>
          <p:spPr>
            <a:xfrm>
              <a:off x="0" y="0"/>
              <a:ext cx="912277" cy="734070"/>
            </a:xfrm>
            <a:custGeom>
              <a:avLst/>
              <a:gdLst/>
              <a:ahLst/>
              <a:cxnLst/>
              <a:rect l="l" t="t" r="r" b="b"/>
              <a:pathLst>
                <a:path w="912277" h="734070">
                  <a:moveTo>
                    <a:pt x="0" y="0"/>
                  </a:moveTo>
                  <a:lnTo>
                    <a:pt x="912277" y="0"/>
                  </a:lnTo>
                  <a:lnTo>
                    <a:pt x="912277" y="734070"/>
                  </a:lnTo>
                  <a:lnTo>
                    <a:pt x="0" y="734070"/>
                  </a:lnTo>
                  <a:close/>
                </a:path>
              </a:pathLst>
            </a:custGeom>
            <a:blipFill>
              <a:blip r:embed="rId2"/>
              <a:stretch>
                <a:fillRect t="-1179" b="-1179"/>
              </a:stretch>
            </a:blipFill>
          </p:spPr>
        </p:sp>
      </p:grpSp>
      <p:sp>
        <p:nvSpPr>
          <p:cNvPr id="4" name="Freeform 4"/>
          <p:cNvSpPr/>
          <p:nvPr/>
        </p:nvSpPr>
        <p:spPr>
          <a:xfrm>
            <a:off x="-2727836" y="6579681"/>
            <a:ext cx="8418204" cy="7760054"/>
          </a:xfrm>
          <a:custGeom>
            <a:avLst/>
            <a:gdLst/>
            <a:ahLst/>
            <a:cxnLst/>
            <a:rect l="l" t="t" r="r" b="b"/>
            <a:pathLst>
              <a:path w="8418204" h="7760054">
                <a:moveTo>
                  <a:pt x="0" y="0"/>
                </a:moveTo>
                <a:lnTo>
                  <a:pt x="8418204" y="0"/>
                </a:lnTo>
                <a:lnTo>
                  <a:pt x="8418204" y="7760054"/>
                </a:lnTo>
                <a:lnTo>
                  <a:pt x="0" y="776005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6359884" y="566257"/>
            <a:ext cx="1798832" cy="811151"/>
          </a:xfrm>
          <a:custGeom>
            <a:avLst/>
            <a:gdLst/>
            <a:ahLst/>
            <a:cxnLst/>
            <a:rect l="l" t="t" r="r" b="b"/>
            <a:pathLst>
              <a:path w="1798832" h="811151">
                <a:moveTo>
                  <a:pt x="0" y="0"/>
                </a:moveTo>
                <a:lnTo>
                  <a:pt x="1798832" y="0"/>
                </a:lnTo>
                <a:lnTo>
                  <a:pt x="1798832" y="811151"/>
                </a:lnTo>
                <a:lnTo>
                  <a:pt x="0" y="811151"/>
                </a:lnTo>
                <a:lnTo>
                  <a:pt x="0" y="0"/>
                </a:lnTo>
                <a:close/>
              </a:path>
            </a:pathLst>
          </a:custGeom>
          <a:blipFill>
            <a:blip r:embed="rId5"/>
            <a:stretch>
              <a:fillRect l="-4113" r="-98552"/>
            </a:stretch>
          </a:blipFill>
        </p:spPr>
      </p:sp>
      <p:sp>
        <p:nvSpPr>
          <p:cNvPr id="7" name="TextBox 7"/>
          <p:cNvSpPr txBox="1"/>
          <p:nvPr/>
        </p:nvSpPr>
        <p:spPr>
          <a:xfrm>
            <a:off x="5029200" y="1062037"/>
            <a:ext cx="11136127" cy="9040808"/>
          </a:xfrm>
          <a:prstGeom prst="rect">
            <a:avLst/>
          </a:prstGeom>
        </p:spPr>
        <p:txBody>
          <a:bodyPr lIns="0" tIns="0" rIns="0" bIns="0" rtlCol="0" anchor="t">
            <a:spAutoFit/>
          </a:bodyPr>
          <a:lstStyle/>
          <a:p>
            <a:pPr algn="l">
              <a:lnSpc>
                <a:spcPts val="4399"/>
              </a:lnSpc>
            </a:pPr>
            <a:r>
              <a:rPr lang="en-US" sz="3600" b="1" dirty="0">
                <a:solidFill>
                  <a:srgbClr val="FFFFFF"/>
                </a:solidFill>
                <a:ea typeface="HK Grotesk Bold"/>
                <a:cs typeface="HK Grotesk Bold"/>
                <a:sym typeface="HK Grotesk Bold"/>
              </a:rPr>
              <a:t>System Workflow</a:t>
            </a:r>
          </a:p>
          <a:p>
            <a:pPr algn="just">
              <a:lnSpc>
                <a:spcPts val="4399"/>
              </a:lnSpc>
              <a:spcBef>
                <a:spcPct val="0"/>
              </a:spcBef>
            </a:pPr>
            <a:r>
              <a:rPr lang="en-US" sz="3600" dirty="0">
                <a:solidFill>
                  <a:srgbClr val="FFFFFF"/>
                </a:solidFill>
                <a:ea typeface="HK Grotesk Bold"/>
                <a:cs typeface="HK Grotesk Bold"/>
                <a:sym typeface="HK Grotesk Bold"/>
              </a:rPr>
              <a:t>The system works in the following steps:</a:t>
            </a:r>
          </a:p>
          <a:p>
            <a:pPr algn="just">
              <a:lnSpc>
                <a:spcPts val="4399"/>
              </a:lnSpc>
              <a:spcBef>
                <a:spcPct val="0"/>
              </a:spcBef>
            </a:pPr>
            <a:r>
              <a:rPr lang="en-US" sz="3600" b="1" dirty="0">
                <a:solidFill>
                  <a:srgbClr val="FFFFFF"/>
                </a:solidFill>
                <a:ea typeface="HK Grotesk Bold"/>
                <a:cs typeface="HK Grotesk Bold"/>
                <a:sym typeface="HK Grotesk Bold"/>
              </a:rPr>
              <a:t>User Input:</a:t>
            </a:r>
          </a:p>
          <a:p>
            <a:pPr algn="just">
              <a:lnSpc>
                <a:spcPts val="4399"/>
              </a:lnSpc>
              <a:spcBef>
                <a:spcPct val="0"/>
              </a:spcBef>
            </a:pPr>
            <a:r>
              <a:rPr lang="en-US" sz="3600" b="1" dirty="0">
                <a:solidFill>
                  <a:srgbClr val="FFFFFF"/>
                </a:solidFill>
                <a:ea typeface="HK Grotesk Bold"/>
                <a:cs typeface="HK Grotesk Bold"/>
                <a:sym typeface="HK Grotesk Bold"/>
              </a:rPr>
              <a:t>  </a:t>
            </a:r>
            <a:r>
              <a:rPr lang="en-US" sz="3600" dirty="0">
                <a:solidFill>
                  <a:srgbClr val="FFFFFF"/>
                </a:solidFill>
                <a:ea typeface="HK Grotesk Bold"/>
                <a:cs typeface="HK Grotesk Bold"/>
                <a:sym typeface="HK Grotesk Bold"/>
              </a:rPr>
              <a:t>User logs in and uploads a laboratory report (PDF or image). </a:t>
            </a:r>
          </a:p>
          <a:p>
            <a:pPr algn="just">
              <a:lnSpc>
                <a:spcPts val="4399"/>
              </a:lnSpc>
              <a:spcBef>
                <a:spcPct val="0"/>
              </a:spcBef>
            </a:pPr>
            <a:r>
              <a:rPr lang="en-US" sz="3600" b="1" dirty="0">
                <a:solidFill>
                  <a:srgbClr val="FFFFFF"/>
                </a:solidFill>
                <a:ea typeface="HK Grotesk Bold"/>
                <a:cs typeface="HK Grotesk Bold"/>
                <a:sym typeface="HK Grotesk Bold"/>
              </a:rPr>
              <a:t>Processing:</a:t>
            </a:r>
          </a:p>
          <a:p>
            <a:pPr algn="just">
              <a:lnSpc>
                <a:spcPts val="4399"/>
              </a:lnSpc>
              <a:spcBef>
                <a:spcPct val="0"/>
              </a:spcBef>
            </a:pPr>
            <a:r>
              <a:rPr lang="en-US" sz="3600" b="1" dirty="0">
                <a:solidFill>
                  <a:srgbClr val="FFFFFF"/>
                </a:solidFill>
                <a:ea typeface="HK Grotesk Bold"/>
                <a:cs typeface="HK Grotesk Bold"/>
                <a:sym typeface="HK Grotesk Bold"/>
              </a:rPr>
              <a:t>   </a:t>
            </a:r>
            <a:r>
              <a:rPr lang="en-US" sz="3600" dirty="0">
                <a:solidFill>
                  <a:srgbClr val="FFFFFF"/>
                </a:solidFill>
                <a:ea typeface="HK Grotesk Bold"/>
                <a:cs typeface="HK Grotesk Bold"/>
                <a:sym typeface="HK Grotesk Bold"/>
              </a:rPr>
              <a:t>OCR extracts the text → System detects lab test values → AI analyzes the values and compares them with reference ranges. </a:t>
            </a:r>
          </a:p>
          <a:p>
            <a:pPr algn="just">
              <a:lnSpc>
                <a:spcPts val="4399"/>
              </a:lnSpc>
              <a:spcBef>
                <a:spcPct val="0"/>
              </a:spcBef>
            </a:pPr>
            <a:r>
              <a:rPr lang="en-US" sz="3600" b="1" dirty="0">
                <a:solidFill>
                  <a:srgbClr val="FFFFFF"/>
                </a:solidFill>
                <a:ea typeface="HK Grotesk Bold"/>
                <a:cs typeface="HK Grotesk Bold"/>
                <a:sym typeface="HK Grotesk Bold"/>
              </a:rPr>
              <a:t>Output / Result: </a:t>
            </a:r>
          </a:p>
          <a:p>
            <a:pPr algn="just">
              <a:lnSpc>
                <a:spcPts val="4399"/>
              </a:lnSpc>
              <a:spcBef>
                <a:spcPct val="0"/>
              </a:spcBef>
            </a:pPr>
            <a:r>
              <a:rPr lang="en-US" sz="3600" b="1" dirty="0">
                <a:solidFill>
                  <a:srgbClr val="FFFFFF"/>
                </a:solidFill>
                <a:ea typeface="HK Grotesk Bold"/>
                <a:cs typeface="HK Grotesk Bold"/>
                <a:sym typeface="HK Grotesk Bold"/>
              </a:rPr>
              <a:t>  </a:t>
            </a:r>
            <a:r>
              <a:rPr lang="en-US" sz="3600" dirty="0">
                <a:solidFill>
                  <a:srgbClr val="FFFFFF"/>
                </a:solidFill>
                <a:ea typeface="HK Grotesk Bold"/>
                <a:cs typeface="HK Grotesk Bold"/>
                <a:sym typeface="HK Grotesk Bold"/>
              </a:rPr>
              <a:t>The system shows simplified explanations, risk levels, and health insights on the dashboard</a:t>
            </a:r>
            <a:r>
              <a:rPr lang="en-US" sz="3600" dirty="0">
                <a:solidFill>
                  <a:srgbClr val="FFFFFF"/>
                </a:solidFill>
                <a:latin typeface="HK Grotesk Bold"/>
                <a:ea typeface="HK Grotesk Bold"/>
                <a:cs typeface="HK Grotesk Bold"/>
                <a:sym typeface="HK Grotesk Bold"/>
              </a:rPr>
              <a:t>.</a:t>
            </a:r>
            <a:endParaRPr lang="en-US" sz="3600" b="1" dirty="0">
              <a:solidFill>
                <a:srgbClr val="FFFFFF"/>
              </a:solidFill>
              <a:latin typeface="HK Grotesk Bold"/>
              <a:ea typeface="HK Grotesk Bold"/>
              <a:cs typeface="HK Grotesk Bold"/>
              <a:sym typeface="HK Grotesk Bold"/>
            </a:endParaRPr>
          </a:p>
          <a:p>
            <a:pPr algn="l">
              <a:lnSpc>
                <a:spcPts val="4399"/>
              </a:lnSpc>
              <a:spcBef>
                <a:spcPct val="0"/>
              </a:spcBef>
            </a:pPr>
            <a:r>
              <a:rPr lang="en-US" sz="3600" b="1" dirty="0">
                <a:solidFill>
                  <a:srgbClr val="FFFFFF"/>
                </a:solidFill>
                <a:latin typeface="HK Grotesk Bold"/>
                <a:ea typeface="HK Grotesk Bold"/>
                <a:cs typeface="HK Grotesk Bold"/>
                <a:sym typeface="HK Grotesk Bold"/>
              </a:rPr>
              <a:t>Explain the current working flow of the prototype.</a:t>
            </a:r>
          </a:p>
          <a:p>
            <a:pPr algn="l">
              <a:lnSpc>
                <a:spcPts val="4399"/>
              </a:lnSpc>
              <a:spcBef>
                <a:spcPct val="0"/>
              </a:spcBef>
            </a:pPr>
            <a:r>
              <a:rPr lang="en-US" sz="3600" b="1" dirty="0">
                <a:solidFill>
                  <a:srgbClr val="FFFFFF"/>
                </a:solidFill>
                <a:latin typeface="HK Grotesk Bold"/>
                <a:ea typeface="HK Grotesk Bold"/>
                <a:cs typeface="HK Grotesk Bold"/>
                <a:sym typeface="HK Grotesk Bold"/>
              </a:rPr>
              <a:t>Example:</a:t>
            </a:r>
          </a:p>
          <a:p>
            <a:pPr algn="l">
              <a:lnSpc>
                <a:spcPts val="4399"/>
              </a:lnSpc>
              <a:spcBef>
                <a:spcPct val="0"/>
              </a:spcBef>
            </a:pPr>
            <a:r>
              <a:rPr lang="en-US" sz="3600" b="1" dirty="0">
                <a:solidFill>
                  <a:srgbClr val="FFFFFF"/>
                </a:solidFill>
                <a:latin typeface="HK Grotesk Bold"/>
                <a:ea typeface="HK Grotesk Bold"/>
                <a:cs typeface="HK Grotesk Bold"/>
                <a:sym typeface="HK Grotesk Bold"/>
              </a:rPr>
              <a:t> Input → Processing → Output</a:t>
            </a:r>
          </a:p>
          <a:p>
            <a:pPr algn="l">
              <a:lnSpc>
                <a:spcPts val="4399"/>
              </a:lnSpc>
              <a:spcBef>
                <a:spcPct val="0"/>
              </a:spcBef>
            </a:pPr>
            <a:endParaRPr lang="en-US" sz="3999" b="1" dirty="0">
              <a:solidFill>
                <a:srgbClr val="FFFFFF"/>
              </a:solidFill>
              <a:latin typeface="HK Grotesk Bold"/>
              <a:ea typeface="HK Grotesk Bold"/>
              <a:cs typeface="HK Grotesk Bold"/>
              <a:sym typeface="HK Grotesk Bold"/>
            </a:endParaRPr>
          </a:p>
        </p:txBody>
      </p:sp>
      <p:sp>
        <p:nvSpPr>
          <p:cNvPr id="8" name="TextBox 8"/>
          <p:cNvSpPr txBox="1"/>
          <p:nvPr/>
        </p:nvSpPr>
        <p:spPr>
          <a:xfrm>
            <a:off x="754256" y="565150"/>
            <a:ext cx="2172912" cy="993775"/>
          </a:xfrm>
          <a:prstGeom prst="rect">
            <a:avLst/>
          </a:prstGeom>
        </p:spPr>
        <p:txBody>
          <a:bodyPr lIns="0" tIns="0" rIns="0" bIns="0" rtlCol="0" anchor="t">
            <a:spAutoFit/>
          </a:bodyPr>
          <a:lstStyle/>
          <a:p>
            <a:pPr marL="0" lvl="0" indent="0" algn="ctr">
              <a:lnSpc>
                <a:spcPts val="7699"/>
              </a:lnSpc>
            </a:pPr>
            <a:r>
              <a:rPr lang="en-US" sz="6999" b="1" dirty="0">
                <a:solidFill>
                  <a:srgbClr val="FFC700"/>
                </a:solidFill>
                <a:latin typeface="HK Grotesk Bold"/>
                <a:ea typeface="HK Grotesk Bold"/>
                <a:cs typeface="HK Grotesk Bold"/>
                <a:sym typeface="HK Grotesk Bold"/>
              </a:rPr>
              <a:t>CP3</a:t>
            </a:r>
          </a:p>
        </p:txBody>
      </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grpSp>
        <p:nvGrpSpPr>
          <p:cNvPr id="2" name="Group 2"/>
          <p:cNvGrpSpPr/>
          <p:nvPr/>
        </p:nvGrpSpPr>
        <p:grpSpPr>
          <a:xfrm>
            <a:off x="15041993" y="441608"/>
            <a:ext cx="1317891" cy="1060450"/>
            <a:chOff x="0" y="0"/>
            <a:chExt cx="912277" cy="734070"/>
          </a:xfrm>
        </p:grpSpPr>
        <p:sp>
          <p:nvSpPr>
            <p:cNvPr id="3" name="Freeform 3"/>
            <p:cNvSpPr/>
            <p:nvPr/>
          </p:nvSpPr>
          <p:spPr>
            <a:xfrm>
              <a:off x="0" y="0"/>
              <a:ext cx="912277" cy="734070"/>
            </a:xfrm>
            <a:custGeom>
              <a:avLst/>
              <a:gdLst/>
              <a:ahLst/>
              <a:cxnLst/>
              <a:rect l="l" t="t" r="r" b="b"/>
              <a:pathLst>
                <a:path w="912277" h="734070">
                  <a:moveTo>
                    <a:pt x="0" y="0"/>
                  </a:moveTo>
                  <a:lnTo>
                    <a:pt x="912277" y="0"/>
                  </a:lnTo>
                  <a:lnTo>
                    <a:pt x="912277" y="734070"/>
                  </a:lnTo>
                  <a:lnTo>
                    <a:pt x="0" y="734070"/>
                  </a:lnTo>
                  <a:close/>
                </a:path>
              </a:pathLst>
            </a:custGeom>
            <a:blipFill>
              <a:blip r:embed="rId2"/>
              <a:stretch>
                <a:fillRect t="-1179" b="-1179"/>
              </a:stretch>
            </a:blipFill>
          </p:spPr>
        </p:sp>
      </p:grpSp>
      <p:sp>
        <p:nvSpPr>
          <p:cNvPr id="4" name="Freeform 4"/>
          <p:cNvSpPr/>
          <p:nvPr/>
        </p:nvSpPr>
        <p:spPr>
          <a:xfrm>
            <a:off x="-2727836" y="6579681"/>
            <a:ext cx="8418204" cy="7760054"/>
          </a:xfrm>
          <a:custGeom>
            <a:avLst/>
            <a:gdLst/>
            <a:ahLst/>
            <a:cxnLst/>
            <a:rect l="l" t="t" r="r" b="b"/>
            <a:pathLst>
              <a:path w="8418204" h="7760054">
                <a:moveTo>
                  <a:pt x="0" y="0"/>
                </a:moveTo>
                <a:lnTo>
                  <a:pt x="8418204" y="0"/>
                </a:lnTo>
                <a:lnTo>
                  <a:pt x="8418204" y="7760054"/>
                </a:lnTo>
                <a:lnTo>
                  <a:pt x="0" y="776005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6359884" y="566257"/>
            <a:ext cx="1798832" cy="811151"/>
          </a:xfrm>
          <a:custGeom>
            <a:avLst/>
            <a:gdLst/>
            <a:ahLst/>
            <a:cxnLst/>
            <a:rect l="l" t="t" r="r" b="b"/>
            <a:pathLst>
              <a:path w="1798832" h="811151">
                <a:moveTo>
                  <a:pt x="0" y="0"/>
                </a:moveTo>
                <a:lnTo>
                  <a:pt x="1798832" y="0"/>
                </a:lnTo>
                <a:lnTo>
                  <a:pt x="1798832" y="811151"/>
                </a:lnTo>
                <a:lnTo>
                  <a:pt x="0" y="811151"/>
                </a:lnTo>
                <a:lnTo>
                  <a:pt x="0" y="0"/>
                </a:lnTo>
                <a:close/>
              </a:path>
            </a:pathLst>
          </a:custGeom>
          <a:blipFill>
            <a:blip r:embed="rId5"/>
            <a:stretch>
              <a:fillRect l="-4113" r="-98552"/>
            </a:stretch>
          </a:blipFill>
        </p:spPr>
      </p:sp>
      <p:sp>
        <p:nvSpPr>
          <p:cNvPr id="7" name="TextBox 7"/>
          <p:cNvSpPr txBox="1"/>
          <p:nvPr/>
        </p:nvSpPr>
        <p:spPr>
          <a:xfrm>
            <a:off x="4532240" y="193349"/>
            <a:ext cx="12079359" cy="8976753"/>
          </a:xfrm>
          <a:prstGeom prst="rect">
            <a:avLst/>
          </a:prstGeom>
        </p:spPr>
        <p:txBody>
          <a:bodyPr wrap="square" lIns="0" tIns="0" rIns="0" bIns="0" rtlCol="0" anchor="t">
            <a:spAutoFit/>
          </a:bodyPr>
          <a:lstStyle/>
          <a:p>
            <a:pPr marL="457200" indent="-457200">
              <a:lnSpc>
                <a:spcPts val="3656"/>
              </a:lnSpc>
              <a:buFont typeface="Wingdings" panose="05000000000000000000" pitchFamily="2" charset="2"/>
              <a:buChar char="Ø"/>
            </a:pPr>
            <a:r>
              <a:rPr lang="en-US" sz="2800" b="1" dirty="0">
                <a:solidFill>
                  <a:srgbClr val="FFFFFF"/>
                </a:solidFill>
                <a:latin typeface="Arial Narrow" panose="020B0606020202030204" pitchFamily="34" charset="0"/>
                <a:ea typeface="HK Grotesk Bold"/>
                <a:cs typeface="HK Grotesk Bold"/>
                <a:sym typeface="HK Grotesk Bold"/>
              </a:rPr>
              <a:t>Progress So Far</a:t>
            </a:r>
          </a:p>
          <a:p>
            <a:pPr>
              <a:lnSpc>
                <a:spcPts val="3656"/>
              </a:lnSpc>
            </a:pPr>
            <a:r>
              <a:rPr lang="en-US" sz="2800" dirty="0">
                <a:solidFill>
                  <a:srgbClr val="FFFFFF"/>
                </a:solidFill>
                <a:latin typeface="Arial Narrow" panose="020B0606020202030204" pitchFamily="34" charset="0"/>
                <a:ea typeface="HK Grotesk Bold"/>
                <a:cs typeface="HK Grotesk Bold"/>
                <a:sym typeface="HK Grotesk Bold"/>
              </a:rPr>
              <a:t>Since the first checkpoint presentation, we have started implementing the CURALENS application.</a:t>
            </a:r>
          </a:p>
          <a:p>
            <a:pPr marL="457200" indent="-457200">
              <a:lnSpc>
                <a:spcPts val="3656"/>
              </a:lnSpc>
              <a:buFont typeface="Wingdings" panose="05000000000000000000" pitchFamily="2" charset="2"/>
              <a:buChar char="Ø"/>
            </a:pPr>
            <a:r>
              <a:rPr lang="en-US" sz="2800" b="1" dirty="0">
                <a:solidFill>
                  <a:srgbClr val="FFFFFF"/>
                </a:solidFill>
                <a:latin typeface="Arial Narrow" panose="020B0606020202030204" pitchFamily="34" charset="0"/>
                <a:ea typeface="HK Grotesk Bold"/>
                <a:cs typeface="HK Grotesk Bold"/>
                <a:sym typeface="HK Grotesk Bold"/>
              </a:rPr>
              <a:t>UI Development:</a:t>
            </a:r>
          </a:p>
          <a:p>
            <a:pPr>
              <a:lnSpc>
                <a:spcPts val="3656"/>
              </a:lnSpc>
            </a:pPr>
            <a:r>
              <a:rPr lang="en-US" sz="2800" b="1" dirty="0">
                <a:solidFill>
                  <a:srgbClr val="FFFFFF"/>
                </a:solidFill>
                <a:latin typeface="Arial Narrow" panose="020B0606020202030204" pitchFamily="34" charset="0"/>
                <a:ea typeface="HK Grotesk Bold"/>
                <a:cs typeface="HK Grotesk Bold"/>
                <a:sym typeface="HK Grotesk Bold"/>
              </a:rPr>
              <a:t> </a:t>
            </a:r>
            <a:r>
              <a:rPr lang="en-US" sz="2800" dirty="0">
                <a:solidFill>
                  <a:srgbClr val="FFFFFF"/>
                </a:solidFill>
                <a:latin typeface="Arial Narrow" panose="020B0606020202030204" pitchFamily="34" charset="0"/>
                <a:ea typeface="HK Grotesk Bold"/>
                <a:cs typeface="HK Grotesk Bold"/>
                <a:sym typeface="HK Grotesk Bold"/>
              </a:rPr>
              <a:t>Designed the user interface including the login page and main dashboard.</a:t>
            </a:r>
          </a:p>
          <a:p>
            <a:pPr marL="457200" indent="-457200">
              <a:lnSpc>
                <a:spcPts val="3656"/>
              </a:lnSpc>
              <a:buFont typeface="Wingdings" panose="05000000000000000000" pitchFamily="2" charset="2"/>
              <a:buChar char="Ø"/>
            </a:pPr>
            <a:r>
              <a:rPr lang="en-US" sz="2800" b="1" dirty="0">
                <a:solidFill>
                  <a:srgbClr val="FFFFFF"/>
                </a:solidFill>
                <a:latin typeface="Arial Narrow" panose="020B0606020202030204" pitchFamily="34" charset="0"/>
                <a:ea typeface="HK Grotesk Bold"/>
                <a:cs typeface="HK Grotesk Bold"/>
                <a:sym typeface="HK Grotesk Bold"/>
              </a:rPr>
              <a:t>Authentication Setup:</a:t>
            </a:r>
          </a:p>
          <a:p>
            <a:pPr>
              <a:lnSpc>
                <a:spcPts val="3656"/>
              </a:lnSpc>
            </a:pPr>
            <a:r>
              <a:rPr lang="en-US" sz="2800" b="1" dirty="0">
                <a:solidFill>
                  <a:srgbClr val="FFFFFF"/>
                </a:solidFill>
                <a:latin typeface="Arial Narrow" panose="020B0606020202030204" pitchFamily="34" charset="0"/>
                <a:ea typeface="HK Grotesk Bold"/>
                <a:cs typeface="HK Grotesk Bold"/>
                <a:sym typeface="HK Grotesk Bold"/>
              </a:rPr>
              <a:t> </a:t>
            </a:r>
            <a:r>
              <a:rPr lang="en-US" sz="2800" dirty="0">
                <a:solidFill>
                  <a:srgbClr val="FFFFFF"/>
                </a:solidFill>
                <a:latin typeface="Arial Narrow" panose="020B0606020202030204" pitchFamily="34" charset="0"/>
                <a:ea typeface="HK Grotesk Bold"/>
                <a:cs typeface="HK Grotesk Bold"/>
                <a:sym typeface="HK Grotesk Bold"/>
              </a:rPr>
              <a:t>Implemented a basic login system for secure user access.</a:t>
            </a:r>
          </a:p>
          <a:p>
            <a:pPr marL="457200" indent="-457200">
              <a:lnSpc>
                <a:spcPts val="3656"/>
              </a:lnSpc>
              <a:buFont typeface="Wingdings" panose="05000000000000000000" pitchFamily="2" charset="2"/>
              <a:buChar char="Ø"/>
            </a:pPr>
            <a:r>
              <a:rPr lang="en-US" sz="2800" b="1" dirty="0">
                <a:solidFill>
                  <a:srgbClr val="FFFFFF"/>
                </a:solidFill>
                <a:latin typeface="Arial Narrow" panose="020B0606020202030204" pitchFamily="34" charset="0"/>
                <a:ea typeface="HK Grotesk Bold"/>
                <a:cs typeface="HK Grotesk Bold"/>
                <a:sym typeface="HK Grotesk Bold"/>
              </a:rPr>
              <a:t>Application Interface:</a:t>
            </a:r>
          </a:p>
          <a:p>
            <a:pPr>
              <a:lnSpc>
                <a:spcPts val="3656"/>
              </a:lnSpc>
            </a:pPr>
            <a:r>
              <a:rPr lang="en-US" sz="2800" b="1" dirty="0">
                <a:solidFill>
                  <a:srgbClr val="FFFFFF"/>
                </a:solidFill>
                <a:latin typeface="Arial Narrow" panose="020B0606020202030204" pitchFamily="34" charset="0"/>
                <a:ea typeface="HK Grotesk Bold"/>
                <a:cs typeface="HK Grotesk Bold"/>
                <a:sym typeface="HK Grotesk Bold"/>
              </a:rPr>
              <a:t> </a:t>
            </a:r>
            <a:r>
              <a:rPr lang="en-US" sz="2800" dirty="0">
                <a:solidFill>
                  <a:srgbClr val="FFFFFF"/>
                </a:solidFill>
                <a:latin typeface="Arial Narrow" panose="020B0606020202030204" pitchFamily="34" charset="0"/>
                <a:ea typeface="HK Grotesk Bold"/>
                <a:cs typeface="HK Grotesk Bold"/>
                <a:sym typeface="HK Grotesk Bold"/>
              </a:rPr>
              <a:t>Created the main page where users can upload and analyze lab reports.</a:t>
            </a:r>
          </a:p>
          <a:p>
            <a:pPr marL="457200" indent="-457200">
              <a:lnSpc>
                <a:spcPts val="3656"/>
              </a:lnSpc>
              <a:buFont typeface="Wingdings" panose="05000000000000000000" pitchFamily="2" charset="2"/>
              <a:buChar char="Ø"/>
            </a:pPr>
            <a:r>
              <a:rPr lang="en-US" sz="2800" b="1" dirty="0">
                <a:solidFill>
                  <a:srgbClr val="FFFFFF"/>
                </a:solidFill>
                <a:latin typeface="Arial Narrow" panose="020B0606020202030204" pitchFamily="34" charset="0"/>
                <a:ea typeface="HK Grotesk Bold"/>
                <a:cs typeface="HK Grotesk Bold"/>
                <a:sym typeface="HK Grotesk Bold"/>
              </a:rPr>
              <a:t>Initial Module Setup: </a:t>
            </a:r>
          </a:p>
          <a:p>
            <a:pPr>
              <a:lnSpc>
                <a:spcPts val="3656"/>
              </a:lnSpc>
            </a:pPr>
            <a:r>
              <a:rPr lang="en-US" sz="2800" dirty="0">
                <a:solidFill>
                  <a:srgbClr val="FFFFFF"/>
                </a:solidFill>
                <a:latin typeface="Arial Narrow" panose="020B0606020202030204" pitchFamily="34" charset="0"/>
                <a:ea typeface="HK Grotesk Bold"/>
                <a:cs typeface="HK Grotesk Bold"/>
                <a:sym typeface="HK Grotesk Bold"/>
              </a:rPr>
              <a:t>Prepared the base for OCR processing and AI analysis integration.</a:t>
            </a:r>
          </a:p>
          <a:p>
            <a:pPr marL="457200" indent="-457200">
              <a:lnSpc>
                <a:spcPts val="3656"/>
              </a:lnSpc>
              <a:buFont typeface="Wingdings" panose="05000000000000000000" pitchFamily="2" charset="2"/>
              <a:buChar char="Ø"/>
            </a:pPr>
            <a:r>
              <a:rPr lang="en-US" sz="2800" b="1" dirty="0">
                <a:solidFill>
                  <a:srgbClr val="FFFFFF"/>
                </a:solidFill>
                <a:latin typeface="Arial Narrow" panose="020B0606020202030204" pitchFamily="34" charset="0"/>
                <a:ea typeface="HK Grotesk Bold"/>
                <a:cs typeface="HK Grotesk Bold"/>
                <a:sym typeface="HK Grotesk Bold"/>
              </a:rPr>
              <a:t>Feature Planning: </a:t>
            </a:r>
          </a:p>
          <a:p>
            <a:pPr>
              <a:lnSpc>
                <a:spcPts val="3656"/>
              </a:lnSpc>
            </a:pPr>
            <a:r>
              <a:rPr lang="en-US" sz="2800" dirty="0">
                <a:solidFill>
                  <a:srgbClr val="FFFFFF"/>
                </a:solidFill>
                <a:latin typeface="Arial Narrow" panose="020B0606020202030204" pitchFamily="34" charset="0"/>
                <a:ea typeface="HK Grotesk Bold"/>
                <a:cs typeface="HK Grotesk Bold"/>
                <a:sym typeface="HK Grotesk Bold"/>
              </a:rPr>
              <a:t>Planned core features such as report upload, OCR text extraction, AI analysis, and health insight generation.</a:t>
            </a:r>
          </a:p>
          <a:p>
            <a:pPr marL="457200" indent="-457200">
              <a:lnSpc>
                <a:spcPts val="3656"/>
              </a:lnSpc>
              <a:buFont typeface="Wingdings" panose="05000000000000000000" pitchFamily="2" charset="2"/>
              <a:buChar char="Ø"/>
            </a:pPr>
            <a:r>
              <a:rPr lang="en-US" sz="2800" b="1" dirty="0">
                <a:solidFill>
                  <a:srgbClr val="FFFFFF"/>
                </a:solidFill>
                <a:latin typeface="Arial Narrow" panose="020B0606020202030204" pitchFamily="34" charset="0"/>
                <a:ea typeface="HK Grotesk Bold"/>
                <a:cs typeface="HK Grotesk Bold"/>
                <a:sym typeface="HK Grotesk Bold"/>
              </a:rPr>
              <a:t>Integration Preparation: </a:t>
            </a:r>
          </a:p>
          <a:p>
            <a:pPr>
              <a:lnSpc>
                <a:spcPts val="3656"/>
              </a:lnSpc>
            </a:pPr>
            <a:r>
              <a:rPr lang="en-US" sz="2800" dirty="0">
                <a:solidFill>
                  <a:srgbClr val="FFFFFF"/>
                </a:solidFill>
                <a:latin typeface="Arial Narrow" panose="020B0606020202030204" pitchFamily="34" charset="0"/>
                <a:ea typeface="HK Grotesk Bold"/>
                <a:cs typeface="HK Grotesk Bold"/>
                <a:sym typeface="HK Grotesk Bold"/>
              </a:rPr>
              <a:t>Started preparing integration between frontend, backend, OCR engine, and database.</a:t>
            </a:r>
          </a:p>
          <a:p>
            <a:pPr marL="457200" indent="-457200">
              <a:lnSpc>
                <a:spcPts val="3656"/>
              </a:lnSpc>
              <a:buFont typeface="Wingdings" panose="05000000000000000000" pitchFamily="2" charset="2"/>
              <a:buChar char="Ø"/>
            </a:pPr>
            <a:r>
              <a:rPr lang="en-US" sz="2800" b="1" dirty="0">
                <a:solidFill>
                  <a:srgbClr val="FFFFFF"/>
                </a:solidFill>
                <a:latin typeface="Arial Narrow" panose="020B0606020202030204" pitchFamily="34" charset="0"/>
                <a:ea typeface="HK Grotesk Bold"/>
                <a:cs typeface="HK Grotesk Bold"/>
                <a:sym typeface="HK Grotesk Bold"/>
              </a:rPr>
              <a:t>Testing Plan:</a:t>
            </a:r>
          </a:p>
          <a:p>
            <a:pPr>
              <a:lnSpc>
                <a:spcPts val="3656"/>
              </a:lnSpc>
            </a:pPr>
            <a:r>
              <a:rPr lang="en-US" sz="2800" b="1" dirty="0">
                <a:solidFill>
                  <a:srgbClr val="FFFFFF"/>
                </a:solidFill>
                <a:latin typeface="Arial Narrow" panose="020B0606020202030204" pitchFamily="34" charset="0"/>
                <a:ea typeface="HK Grotesk Bold"/>
                <a:cs typeface="HK Grotesk Bold"/>
                <a:sym typeface="HK Grotesk Bold"/>
              </a:rPr>
              <a:t> </a:t>
            </a:r>
            <a:r>
              <a:rPr lang="en-US" sz="2800" dirty="0">
                <a:solidFill>
                  <a:srgbClr val="FFFFFF"/>
                </a:solidFill>
                <a:latin typeface="Arial Narrow" panose="020B0606020202030204" pitchFamily="34" charset="0"/>
                <a:ea typeface="HK Grotesk Bold"/>
                <a:cs typeface="HK Grotesk Bold"/>
                <a:sym typeface="HK Grotesk Bold"/>
              </a:rPr>
              <a:t>Initial testing and optimization steps have been planned to improve system accuracy and performance.</a:t>
            </a:r>
          </a:p>
        </p:txBody>
      </p:sp>
      <p:sp>
        <p:nvSpPr>
          <p:cNvPr id="8" name="TextBox 8"/>
          <p:cNvSpPr txBox="1"/>
          <p:nvPr/>
        </p:nvSpPr>
        <p:spPr>
          <a:xfrm>
            <a:off x="754256" y="565150"/>
            <a:ext cx="2172912" cy="993775"/>
          </a:xfrm>
          <a:prstGeom prst="rect">
            <a:avLst/>
          </a:prstGeom>
        </p:spPr>
        <p:txBody>
          <a:bodyPr lIns="0" tIns="0" rIns="0" bIns="0" rtlCol="0" anchor="t">
            <a:spAutoFit/>
          </a:bodyPr>
          <a:lstStyle/>
          <a:p>
            <a:pPr marL="0" lvl="0" indent="0" algn="ctr">
              <a:lnSpc>
                <a:spcPts val="7699"/>
              </a:lnSpc>
            </a:pPr>
            <a:r>
              <a:rPr lang="en-US" sz="6999" b="1">
                <a:solidFill>
                  <a:srgbClr val="FFC700"/>
                </a:solidFill>
                <a:latin typeface="HK Grotesk Bold"/>
                <a:ea typeface="HK Grotesk Bold"/>
                <a:cs typeface="HK Grotesk Bold"/>
                <a:sym typeface="HK Grotesk Bold"/>
              </a:rPr>
              <a:t>CP3</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p:cNvGrpSpPr/>
        <p:nvPr/>
      </p:nvGrpSpPr>
      <p:grpSpPr>
        <a:xfrm>
          <a:off x="0" y="0"/>
          <a:ext cx="0" cy="0"/>
          <a:chOff x="0" y="0"/>
          <a:chExt cx="0" cy="0"/>
        </a:xfrm>
      </p:grpSpPr>
      <p:grpSp>
        <p:nvGrpSpPr>
          <p:cNvPr id="2" name="Group 2"/>
          <p:cNvGrpSpPr/>
          <p:nvPr/>
        </p:nvGrpSpPr>
        <p:grpSpPr>
          <a:xfrm>
            <a:off x="15041993" y="441608"/>
            <a:ext cx="1317891" cy="1060450"/>
            <a:chOff x="0" y="0"/>
            <a:chExt cx="912277" cy="734070"/>
          </a:xfrm>
        </p:grpSpPr>
        <p:sp>
          <p:nvSpPr>
            <p:cNvPr id="3" name="Freeform 3"/>
            <p:cNvSpPr/>
            <p:nvPr/>
          </p:nvSpPr>
          <p:spPr>
            <a:xfrm>
              <a:off x="0" y="0"/>
              <a:ext cx="912277" cy="734070"/>
            </a:xfrm>
            <a:custGeom>
              <a:avLst/>
              <a:gdLst/>
              <a:ahLst/>
              <a:cxnLst/>
              <a:rect l="l" t="t" r="r" b="b"/>
              <a:pathLst>
                <a:path w="912277" h="734070">
                  <a:moveTo>
                    <a:pt x="0" y="0"/>
                  </a:moveTo>
                  <a:lnTo>
                    <a:pt x="912277" y="0"/>
                  </a:lnTo>
                  <a:lnTo>
                    <a:pt x="912277" y="734070"/>
                  </a:lnTo>
                  <a:lnTo>
                    <a:pt x="0" y="734070"/>
                  </a:lnTo>
                  <a:close/>
                </a:path>
              </a:pathLst>
            </a:custGeom>
            <a:blipFill>
              <a:blip r:embed="rId2"/>
              <a:stretch>
                <a:fillRect t="-1179" b="-1179"/>
              </a:stretch>
            </a:blipFill>
          </p:spPr>
        </p:sp>
      </p:grpSp>
      <p:sp>
        <p:nvSpPr>
          <p:cNvPr id="5" name="Freeform 5"/>
          <p:cNvSpPr/>
          <p:nvPr/>
        </p:nvSpPr>
        <p:spPr>
          <a:xfrm>
            <a:off x="16359884" y="566257"/>
            <a:ext cx="1798832" cy="811151"/>
          </a:xfrm>
          <a:custGeom>
            <a:avLst/>
            <a:gdLst/>
            <a:ahLst/>
            <a:cxnLst/>
            <a:rect l="l" t="t" r="r" b="b"/>
            <a:pathLst>
              <a:path w="1798832" h="811151">
                <a:moveTo>
                  <a:pt x="0" y="0"/>
                </a:moveTo>
                <a:lnTo>
                  <a:pt x="1798832" y="0"/>
                </a:lnTo>
                <a:lnTo>
                  <a:pt x="1798832" y="811151"/>
                </a:lnTo>
                <a:lnTo>
                  <a:pt x="0" y="811151"/>
                </a:lnTo>
                <a:lnTo>
                  <a:pt x="0" y="0"/>
                </a:lnTo>
                <a:close/>
              </a:path>
            </a:pathLst>
          </a:custGeom>
          <a:blipFill>
            <a:blip r:embed="rId3"/>
            <a:stretch>
              <a:fillRect l="-4113" r="-98552"/>
            </a:stretch>
          </a:blipFill>
        </p:spPr>
      </p:sp>
      <p:sp>
        <p:nvSpPr>
          <p:cNvPr id="6" name="TextBox 6"/>
          <p:cNvSpPr txBox="1"/>
          <p:nvPr/>
        </p:nvSpPr>
        <p:spPr>
          <a:xfrm>
            <a:off x="3146244" y="508283"/>
            <a:ext cx="11158445" cy="1009635"/>
          </a:xfrm>
          <a:prstGeom prst="rect">
            <a:avLst/>
          </a:prstGeom>
        </p:spPr>
        <p:txBody>
          <a:bodyPr lIns="0" tIns="0" rIns="0" bIns="0" rtlCol="0" anchor="t">
            <a:spAutoFit/>
          </a:bodyPr>
          <a:lstStyle/>
          <a:p>
            <a:pPr marL="0" lvl="0" indent="0" algn="ctr">
              <a:lnSpc>
                <a:spcPts val="7699"/>
              </a:lnSpc>
            </a:pPr>
            <a:endParaRPr lang="en-US" sz="6999" b="1" dirty="0">
              <a:solidFill>
                <a:srgbClr val="B04B47"/>
              </a:solidFill>
              <a:latin typeface="HK Grotesk Bold"/>
              <a:ea typeface="HK Grotesk Bold"/>
              <a:cs typeface="HK Grotesk Bold"/>
              <a:sym typeface="HK Grotesk Bold"/>
            </a:endParaRPr>
          </a:p>
        </p:txBody>
      </p:sp>
      <p:sp>
        <p:nvSpPr>
          <p:cNvPr id="7" name="TextBox 7"/>
          <p:cNvSpPr txBox="1"/>
          <p:nvPr/>
        </p:nvSpPr>
        <p:spPr>
          <a:xfrm>
            <a:off x="3581400" y="544928"/>
            <a:ext cx="14173200" cy="10459082"/>
          </a:xfrm>
          <a:prstGeom prst="rect">
            <a:avLst/>
          </a:prstGeom>
        </p:spPr>
        <p:txBody>
          <a:bodyPr wrap="square" lIns="0" tIns="0" rIns="0" bIns="0" rtlCol="0" anchor="t">
            <a:spAutoFit/>
          </a:bodyPr>
          <a:lstStyle/>
          <a:p>
            <a:pPr>
              <a:lnSpc>
                <a:spcPts val="3850"/>
              </a:lnSpc>
              <a:spcBef>
                <a:spcPct val="0"/>
              </a:spcBef>
            </a:pPr>
            <a:r>
              <a:rPr lang="en-US" sz="3200" b="1" dirty="0">
                <a:solidFill>
                  <a:srgbClr val="FFFFFF"/>
                </a:solidFill>
                <a:ea typeface="HK Grotesk Bold"/>
                <a:cs typeface="HK Grotesk Bold"/>
                <a:sym typeface="HK Grotesk Bold"/>
              </a:rPr>
              <a:t>Key</a:t>
            </a:r>
            <a:r>
              <a:rPr lang="en-US" sz="3200" dirty="0">
                <a:solidFill>
                  <a:srgbClr val="FFFFFF"/>
                </a:solidFill>
                <a:ea typeface="HK Grotesk Bold"/>
                <a:cs typeface="HK Grotesk Bold"/>
                <a:sym typeface="HK Grotesk Bold"/>
              </a:rPr>
              <a:t> </a:t>
            </a:r>
            <a:r>
              <a:rPr lang="en-US" sz="3200" b="1" dirty="0">
                <a:solidFill>
                  <a:srgbClr val="FFFFFF"/>
                </a:solidFill>
                <a:ea typeface="HK Grotesk Bold"/>
                <a:cs typeface="HK Grotesk Bold"/>
                <a:sym typeface="HK Grotesk Bold"/>
              </a:rPr>
              <a:t>Achievements</a:t>
            </a:r>
          </a:p>
          <a:p>
            <a:pPr>
              <a:lnSpc>
                <a:spcPts val="3850"/>
              </a:lnSpc>
              <a:spcBef>
                <a:spcPct val="0"/>
              </a:spcBef>
            </a:pPr>
            <a:r>
              <a:rPr lang="en-US" sz="3200" dirty="0">
                <a:solidFill>
                  <a:srgbClr val="FFFFFF"/>
                </a:solidFill>
                <a:ea typeface="HK Grotesk Bold"/>
                <a:cs typeface="HK Grotesk Bold"/>
                <a:sym typeface="HK Grotesk Bold"/>
              </a:rPr>
              <a:t>Feature Implementation</a:t>
            </a:r>
          </a:p>
          <a:p>
            <a:pPr>
              <a:lnSpc>
                <a:spcPts val="3850"/>
              </a:lnSpc>
              <a:spcBef>
                <a:spcPct val="0"/>
              </a:spcBef>
            </a:pPr>
            <a:r>
              <a:rPr lang="en-US" sz="3200" dirty="0">
                <a:solidFill>
                  <a:srgbClr val="FFFFFF"/>
                </a:solidFill>
                <a:ea typeface="HK Grotesk Bold"/>
                <a:cs typeface="HK Grotesk Bold"/>
                <a:sym typeface="HK Grotesk Bold"/>
              </a:rPr>
              <a:t>AI-based laboratory report analysis module developed</a:t>
            </a:r>
          </a:p>
          <a:p>
            <a:pPr>
              <a:lnSpc>
                <a:spcPts val="3850"/>
              </a:lnSpc>
              <a:spcBef>
                <a:spcPct val="0"/>
              </a:spcBef>
            </a:pPr>
            <a:r>
              <a:rPr lang="en-US" sz="3200" dirty="0">
                <a:solidFill>
                  <a:srgbClr val="FFFFFF"/>
                </a:solidFill>
                <a:ea typeface="HK Grotesk Bold"/>
                <a:cs typeface="HK Grotesk Bold"/>
                <a:sym typeface="HK Grotesk Bold"/>
              </a:rPr>
              <a:t>secure login and application dashboard implemented</a:t>
            </a:r>
          </a:p>
          <a:p>
            <a:pPr>
              <a:lnSpc>
                <a:spcPts val="3850"/>
              </a:lnSpc>
              <a:spcBef>
                <a:spcPct val="0"/>
              </a:spcBef>
            </a:pPr>
            <a:r>
              <a:rPr lang="en-US" sz="3200" dirty="0">
                <a:solidFill>
                  <a:srgbClr val="FFFFFF"/>
                </a:solidFill>
                <a:ea typeface="HK Grotesk Bold"/>
                <a:cs typeface="HK Grotesk Bold"/>
                <a:sym typeface="HK Grotesk Bold"/>
              </a:rPr>
              <a:t>Medical dataset-based report interpretation system created</a:t>
            </a:r>
          </a:p>
          <a:p>
            <a:pPr>
              <a:lnSpc>
                <a:spcPts val="3850"/>
              </a:lnSpc>
              <a:spcBef>
                <a:spcPct val="0"/>
              </a:spcBef>
            </a:pPr>
            <a:endParaRPr lang="en-US" sz="3200" b="1" dirty="0">
              <a:solidFill>
                <a:srgbClr val="FFFFFF"/>
              </a:solidFill>
              <a:ea typeface="HK Grotesk Bold"/>
              <a:cs typeface="HK Grotesk Bold"/>
              <a:sym typeface="HK Grotesk Bold"/>
            </a:endParaRPr>
          </a:p>
          <a:p>
            <a:pPr>
              <a:lnSpc>
                <a:spcPts val="3850"/>
              </a:lnSpc>
              <a:spcBef>
                <a:spcPct val="0"/>
              </a:spcBef>
            </a:pPr>
            <a:r>
              <a:rPr lang="en-US" sz="3200" b="1" dirty="0">
                <a:solidFill>
                  <a:srgbClr val="FFFFFF"/>
                </a:solidFill>
                <a:ea typeface="HK Grotesk Bold"/>
                <a:cs typeface="HK Grotesk Bold"/>
                <a:sym typeface="HK Grotesk Bold"/>
              </a:rPr>
              <a:t>Accuracy &amp; Reliability</a:t>
            </a:r>
          </a:p>
          <a:p>
            <a:pPr>
              <a:lnSpc>
                <a:spcPts val="3850"/>
              </a:lnSpc>
              <a:spcBef>
                <a:spcPct val="0"/>
              </a:spcBef>
            </a:pPr>
            <a:r>
              <a:rPr lang="en-US" sz="3200" dirty="0">
                <a:solidFill>
                  <a:srgbClr val="FFFFFF"/>
                </a:solidFill>
                <a:ea typeface="HK Grotesk Bold"/>
                <a:cs typeface="HK Grotesk Bold"/>
                <a:sym typeface="HK Grotesk Bold"/>
              </a:rPr>
              <a:t>System designed to </a:t>
            </a:r>
            <a:r>
              <a:rPr lang="en-US" sz="3200" dirty="0" err="1">
                <a:solidFill>
                  <a:srgbClr val="FFFFFF"/>
                </a:solidFill>
                <a:ea typeface="HK Grotesk Bold"/>
                <a:cs typeface="HK Grotesk Bold"/>
                <a:sym typeface="HK Grotesk Bold"/>
              </a:rPr>
              <a:t>analyse</a:t>
            </a:r>
            <a:r>
              <a:rPr lang="en-US" sz="3200" dirty="0">
                <a:solidFill>
                  <a:srgbClr val="FFFFFF"/>
                </a:solidFill>
                <a:ea typeface="HK Grotesk Bold"/>
                <a:cs typeface="HK Grotesk Bold"/>
                <a:sym typeface="HK Grotesk Bold"/>
              </a:rPr>
              <a:t> actual medical dataset values instead of giving generic AI predictions</a:t>
            </a:r>
          </a:p>
          <a:p>
            <a:pPr>
              <a:lnSpc>
                <a:spcPts val="3850"/>
              </a:lnSpc>
              <a:spcBef>
                <a:spcPct val="0"/>
              </a:spcBef>
            </a:pPr>
            <a:r>
              <a:rPr lang="en-US" sz="3200" dirty="0">
                <a:solidFill>
                  <a:srgbClr val="FFFFFF"/>
                </a:solidFill>
                <a:ea typeface="HK Grotesk Bold"/>
                <a:cs typeface="HK Grotesk Bold"/>
                <a:sym typeface="HK Grotesk Bold"/>
              </a:rPr>
              <a:t>Reduces incorrect interpretations that may occur in general AI responses</a:t>
            </a:r>
          </a:p>
          <a:p>
            <a:pPr>
              <a:lnSpc>
                <a:spcPts val="3850"/>
              </a:lnSpc>
              <a:spcBef>
                <a:spcPct val="0"/>
              </a:spcBef>
            </a:pPr>
            <a:r>
              <a:rPr lang="en-US" sz="3200" dirty="0">
                <a:solidFill>
                  <a:srgbClr val="FFFFFF"/>
                </a:solidFill>
                <a:ea typeface="HK Grotesk Bold"/>
                <a:cs typeface="HK Grotesk Bold"/>
                <a:sym typeface="HK Grotesk Bold"/>
              </a:rPr>
              <a:t>Provides more precise and structured analysis of lab report values</a:t>
            </a:r>
          </a:p>
          <a:p>
            <a:pPr>
              <a:lnSpc>
                <a:spcPts val="3850"/>
              </a:lnSpc>
              <a:spcBef>
                <a:spcPct val="0"/>
              </a:spcBef>
            </a:pPr>
            <a:endParaRPr lang="en-US" sz="3200" b="1" dirty="0">
              <a:solidFill>
                <a:srgbClr val="FFFFFF"/>
              </a:solidFill>
              <a:ea typeface="HK Grotesk Bold"/>
              <a:cs typeface="HK Grotesk Bold"/>
              <a:sym typeface="HK Grotesk Bold"/>
            </a:endParaRPr>
          </a:p>
          <a:p>
            <a:pPr>
              <a:lnSpc>
                <a:spcPts val="3850"/>
              </a:lnSpc>
              <a:spcBef>
                <a:spcPct val="0"/>
              </a:spcBef>
            </a:pPr>
            <a:r>
              <a:rPr lang="en-US" sz="3200" b="1" dirty="0">
                <a:solidFill>
                  <a:srgbClr val="FFFFFF"/>
                </a:solidFill>
                <a:ea typeface="HK Grotesk Bold"/>
                <a:cs typeface="HK Grotesk Bold"/>
                <a:sym typeface="HK Grotesk Bold"/>
              </a:rPr>
              <a:t>Doctor-Supported Validation</a:t>
            </a:r>
          </a:p>
          <a:p>
            <a:pPr>
              <a:lnSpc>
                <a:spcPts val="3850"/>
              </a:lnSpc>
              <a:spcBef>
                <a:spcPct val="0"/>
              </a:spcBef>
            </a:pPr>
            <a:r>
              <a:rPr lang="en-US" sz="3200" dirty="0">
                <a:solidFill>
                  <a:srgbClr val="FFFFFF"/>
                </a:solidFill>
                <a:ea typeface="HK Grotesk Bold"/>
                <a:cs typeface="HK Grotesk Bold"/>
                <a:sym typeface="HK Grotesk Bold"/>
              </a:rPr>
              <a:t>Results can be verified and validated by medical professionals</a:t>
            </a:r>
          </a:p>
          <a:p>
            <a:pPr>
              <a:lnSpc>
                <a:spcPts val="3850"/>
              </a:lnSpc>
              <a:spcBef>
                <a:spcPct val="0"/>
              </a:spcBef>
            </a:pPr>
            <a:r>
              <a:rPr lang="en-US" sz="3200" dirty="0">
                <a:solidFill>
                  <a:srgbClr val="FFFFFF"/>
                </a:solidFill>
                <a:ea typeface="HK Grotesk Bold"/>
                <a:cs typeface="HK Grotesk Bold"/>
                <a:sym typeface="HK Grotesk Bold"/>
              </a:rPr>
              <a:t>Designed as a doctor-assisted AI system, not a fully automated prediction tool</a:t>
            </a:r>
          </a:p>
          <a:p>
            <a:pPr>
              <a:lnSpc>
                <a:spcPts val="3850"/>
              </a:lnSpc>
              <a:spcBef>
                <a:spcPct val="0"/>
              </a:spcBef>
            </a:pPr>
            <a:endParaRPr lang="en-US" sz="3200" b="1" dirty="0">
              <a:solidFill>
                <a:srgbClr val="FFFFFF"/>
              </a:solidFill>
              <a:ea typeface="HK Grotesk Bold"/>
              <a:cs typeface="HK Grotesk Bold"/>
              <a:sym typeface="HK Grotesk Bold"/>
            </a:endParaRPr>
          </a:p>
          <a:p>
            <a:pPr>
              <a:lnSpc>
                <a:spcPts val="3850"/>
              </a:lnSpc>
              <a:spcBef>
                <a:spcPct val="0"/>
              </a:spcBef>
            </a:pPr>
            <a:r>
              <a:rPr lang="en-US" sz="3200" b="1" dirty="0">
                <a:solidFill>
                  <a:srgbClr val="FFFFFF"/>
                </a:solidFill>
                <a:ea typeface="HK Grotesk Bold"/>
                <a:cs typeface="HK Grotesk Bold"/>
                <a:sym typeface="HK Grotesk Bold"/>
              </a:rPr>
              <a:t>System Capability</a:t>
            </a:r>
          </a:p>
          <a:p>
            <a:pPr>
              <a:lnSpc>
                <a:spcPts val="3850"/>
              </a:lnSpc>
              <a:spcBef>
                <a:spcPct val="0"/>
              </a:spcBef>
            </a:pPr>
            <a:r>
              <a:rPr lang="en-US" sz="3200" dirty="0">
                <a:solidFill>
                  <a:srgbClr val="FFFFFF"/>
                </a:solidFill>
                <a:ea typeface="HK Grotesk Bold"/>
                <a:cs typeface="HK Grotesk Bold"/>
                <a:sym typeface="HK Grotesk Bold"/>
              </a:rPr>
              <a:t>Helps users understand complex laboratory reports easily</a:t>
            </a:r>
          </a:p>
          <a:p>
            <a:pPr>
              <a:lnSpc>
                <a:spcPts val="3850"/>
              </a:lnSpc>
              <a:spcBef>
                <a:spcPct val="0"/>
              </a:spcBef>
            </a:pPr>
            <a:r>
              <a:rPr lang="en-US" sz="3200" dirty="0">
                <a:solidFill>
                  <a:srgbClr val="FFFFFF"/>
                </a:solidFill>
                <a:ea typeface="HK Grotesk Bold"/>
                <a:cs typeface="HK Grotesk Bold"/>
                <a:sym typeface="HK Grotesk Bold"/>
              </a:rPr>
              <a:t>Improves reliability of health report interpretation compared to general AI tools</a:t>
            </a:r>
          </a:p>
          <a:p>
            <a:pPr>
              <a:lnSpc>
                <a:spcPts val="3850"/>
              </a:lnSpc>
              <a:spcBef>
                <a:spcPct val="0"/>
              </a:spcBef>
            </a:pPr>
            <a:endParaRPr lang="en-US" sz="3200" b="1" dirty="0">
              <a:solidFill>
                <a:srgbClr val="FFFFFF"/>
              </a:solidFill>
              <a:ea typeface="HK Grotesk Bold"/>
              <a:cs typeface="HK Grotesk Bold"/>
              <a:sym typeface="HK Grotesk Bold"/>
            </a:endParaRPr>
          </a:p>
          <a:p>
            <a:pPr>
              <a:lnSpc>
                <a:spcPts val="3850"/>
              </a:lnSpc>
              <a:spcBef>
                <a:spcPct val="0"/>
              </a:spcBef>
            </a:pPr>
            <a:endParaRPr lang="en-US" sz="2400" b="1" dirty="0">
              <a:solidFill>
                <a:srgbClr val="FFFFFF"/>
              </a:solidFill>
              <a:ea typeface="HK Grotesk Bold"/>
              <a:cs typeface="HK Grotesk Bold"/>
              <a:sym typeface="HK Grotesk Bold"/>
            </a:endParaRPr>
          </a:p>
        </p:txBody>
      </p:sp>
      <p:pic>
        <p:nvPicPr>
          <p:cNvPr id="11" name="Picture 10">
            <a:extLst>
              <a:ext uri="{FF2B5EF4-FFF2-40B4-BE49-F238E27FC236}">
                <a16:creationId xmlns:a16="http://schemas.microsoft.com/office/drawing/2014/main" id="{6D841F36-5B8B-57DE-6D15-307831DF309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187382" y="7124700"/>
            <a:ext cx="8418104" cy="7758621"/>
          </a:xfrm>
          <a:prstGeom prst="rect">
            <a:avLst/>
          </a:prstGeom>
        </p:spPr>
      </p:pic>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a:extLst>
            <a:ext uri="{FF2B5EF4-FFF2-40B4-BE49-F238E27FC236}">
              <a16:creationId xmlns:a16="http://schemas.microsoft.com/office/drawing/2014/main" id="{D5E969D8-4A20-0D6B-729C-DFD58C47C44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2EED3B9-3622-4A0D-54D1-14B0B3054E8E}"/>
              </a:ext>
            </a:extLst>
          </p:cNvPr>
          <p:cNvGrpSpPr/>
          <p:nvPr/>
        </p:nvGrpSpPr>
        <p:grpSpPr>
          <a:xfrm>
            <a:off x="15041993" y="441608"/>
            <a:ext cx="1317891" cy="1060450"/>
            <a:chOff x="0" y="0"/>
            <a:chExt cx="912277" cy="734070"/>
          </a:xfrm>
        </p:grpSpPr>
        <p:sp>
          <p:nvSpPr>
            <p:cNvPr id="3" name="Freeform 3">
              <a:extLst>
                <a:ext uri="{FF2B5EF4-FFF2-40B4-BE49-F238E27FC236}">
                  <a16:creationId xmlns:a16="http://schemas.microsoft.com/office/drawing/2014/main" id="{A6ECE769-423C-17EF-9660-967F8028F70D}"/>
                </a:ext>
              </a:extLst>
            </p:cNvPr>
            <p:cNvSpPr/>
            <p:nvPr/>
          </p:nvSpPr>
          <p:spPr>
            <a:xfrm>
              <a:off x="0" y="0"/>
              <a:ext cx="912277" cy="734070"/>
            </a:xfrm>
            <a:custGeom>
              <a:avLst/>
              <a:gdLst/>
              <a:ahLst/>
              <a:cxnLst/>
              <a:rect l="l" t="t" r="r" b="b"/>
              <a:pathLst>
                <a:path w="912277" h="734070">
                  <a:moveTo>
                    <a:pt x="0" y="0"/>
                  </a:moveTo>
                  <a:lnTo>
                    <a:pt x="912277" y="0"/>
                  </a:lnTo>
                  <a:lnTo>
                    <a:pt x="912277" y="734070"/>
                  </a:lnTo>
                  <a:lnTo>
                    <a:pt x="0" y="734070"/>
                  </a:lnTo>
                  <a:close/>
                </a:path>
              </a:pathLst>
            </a:custGeom>
            <a:blipFill>
              <a:blip r:embed="rId2"/>
              <a:stretch>
                <a:fillRect t="-1179" b="-1179"/>
              </a:stretch>
            </a:blipFill>
          </p:spPr>
        </p:sp>
      </p:grpSp>
      <p:sp>
        <p:nvSpPr>
          <p:cNvPr id="5" name="Freeform 5">
            <a:extLst>
              <a:ext uri="{FF2B5EF4-FFF2-40B4-BE49-F238E27FC236}">
                <a16:creationId xmlns:a16="http://schemas.microsoft.com/office/drawing/2014/main" id="{EAC6F6A3-E891-DF4E-1EDA-4F77883ACF70}"/>
              </a:ext>
            </a:extLst>
          </p:cNvPr>
          <p:cNvSpPr/>
          <p:nvPr/>
        </p:nvSpPr>
        <p:spPr>
          <a:xfrm>
            <a:off x="16359884" y="566257"/>
            <a:ext cx="1798832" cy="811151"/>
          </a:xfrm>
          <a:custGeom>
            <a:avLst/>
            <a:gdLst/>
            <a:ahLst/>
            <a:cxnLst/>
            <a:rect l="l" t="t" r="r" b="b"/>
            <a:pathLst>
              <a:path w="1798832" h="811151">
                <a:moveTo>
                  <a:pt x="0" y="0"/>
                </a:moveTo>
                <a:lnTo>
                  <a:pt x="1798832" y="0"/>
                </a:lnTo>
                <a:lnTo>
                  <a:pt x="1798832" y="811151"/>
                </a:lnTo>
                <a:lnTo>
                  <a:pt x="0" y="811151"/>
                </a:lnTo>
                <a:lnTo>
                  <a:pt x="0" y="0"/>
                </a:lnTo>
                <a:close/>
              </a:path>
            </a:pathLst>
          </a:custGeom>
          <a:blipFill>
            <a:blip r:embed="rId3"/>
            <a:stretch>
              <a:fillRect l="-4113" r="-98552"/>
            </a:stretch>
          </a:blipFill>
        </p:spPr>
      </p:sp>
      <p:sp>
        <p:nvSpPr>
          <p:cNvPr id="6" name="TextBox 6">
            <a:extLst>
              <a:ext uri="{FF2B5EF4-FFF2-40B4-BE49-F238E27FC236}">
                <a16:creationId xmlns:a16="http://schemas.microsoft.com/office/drawing/2014/main" id="{DCA7D1B3-65AB-6A2D-8AFD-576EB57861C8}"/>
              </a:ext>
            </a:extLst>
          </p:cNvPr>
          <p:cNvSpPr txBox="1"/>
          <p:nvPr/>
        </p:nvSpPr>
        <p:spPr>
          <a:xfrm>
            <a:off x="3146244" y="508283"/>
            <a:ext cx="11158445" cy="1009635"/>
          </a:xfrm>
          <a:prstGeom prst="rect">
            <a:avLst/>
          </a:prstGeom>
        </p:spPr>
        <p:txBody>
          <a:bodyPr lIns="0" tIns="0" rIns="0" bIns="0" rtlCol="0" anchor="t">
            <a:spAutoFit/>
          </a:bodyPr>
          <a:lstStyle/>
          <a:p>
            <a:pPr marL="0" lvl="0" indent="0" algn="ctr">
              <a:lnSpc>
                <a:spcPts val="7699"/>
              </a:lnSpc>
            </a:pPr>
            <a:endParaRPr lang="en-US" sz="6999" b="1" dirty="0">
              <a:solidFill>
                <a:srgbClr val="B04B47"/>
              </a:solidFill>
              <a:latin typeface="HK Grotesk Bold"/>
              <a:ea typeface="HK Grotesk Bold"/>
              <a:cs typeface="HK Grotesk Bold"/>
              <a:sym typeface="HK Grotesk Bold"/>
            </a:endParaRPr>
          </a:p>
        </p:txBody>
      </p:sp>
      <p:pic>
        <p:nvPicPr>
          <p:cNvPr id="8" name="Picture 7">
            <a:extLst>
              <a:ext uri="{FF2B5EF4-FFF2-40B4-BE49-F238E27FC236}">
                <a16:creationId xmlns:a16="http://schemas.microsoft.com/office/drawing/2014/main" id="{D9454B76-DAA1-DE8C-9CD7-86D007AFD9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98635" y="4747612"/>
            <a:ext cx="10591145" cy="5105400"/>
          </a:xfrm>
          <a:prstGeom prst="rect">
            <a:avLst/>
          </a:prstGeom>
        </p:spPr>
      </p:pic>
      <p:pic>
        <p:nvPicPr>
          <p:cNvPr id="10" name="Picture 9">
            <a:extLst>
              <a:ext uri="{FF2B5EF4-FFF2-40B4-BE49-F238E27FC236}">
                <a16:creationId xmlns:a16="http://schemas.microsoft.com/office/drawing/2014/main" id="{45137FF5-B214-7635-42E3-59A0177E217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2015" y="723900"/>
            <a:ext cx="9120884" cy="3716420"/>
          </a:xfrm>
          <a:prstGeom prst="rect">
            <a:avLst/>
          </a:prstGeom>
        </p:spPr>
      </p:pic>
    </p:spTree>
    <p:extLst>
      <p:ext uri="{BB962C8B-B14F-4D97-AF65-F5344CB8AC3E}">
        <p14:creationId xmlns:p14="http://schemas.microsoft.com/office/powerpoint/2010/main" val="267791766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50A30"/>
        </a:solidFill>
        <a:effectLst/>
      </p:bgPr>
    </p:bg>
    <p:spTree>
      <p:nvGrpSpPr>
        <p:cNvPr id="1" name="">
          <a:extLst>
            <a:ext uri="{FF2B5EF4-FFF2-40B4-BE49-F238E27FC236}">
              <a16:creationId xmlns:a16="http://schemas.microsoft.com/office/drawing/2014/main" id="{DC3B7BAB-29E2-8D26-3AFB-CD4FC507675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A9965AA-86FB-B608-ECAB-296AC0C4B570}"/>
              </a:ext>
            </a:extLst>
          </p:cNvPr>
          <p:cNvGrpSpPr/>
          <p:nvPr/>
        </p:nvGrpSpPr>
        <p:grpSpPr>
          <a:xfrm>
            <a:off x="15041993" y="441608"/>
            <a:ext cx="1317891" cy="1060450"/>
            <a:chOff x="0" y="0"/>
            <a:chExt cx="912277" cy="734070"/>
          </a:xfrm>
        </p:grpSpPr>
        <p:sp>
          <p:nvSpPr>
            <p:cNvPr id="3" name="Freeform 3">
              <a:extLst>
                <a:ext uri="{FF2B5EF4-FFF2-40B4-BE49-F238E27FC236}">
                  <a16:creationId xmlns:a16="http://schemas.microsoft.com/office/drawing/2014/main" id="{1F01FD48-EC2C-4716-8EE2-C8323E53D0EB}"/>
                </a:ext>
              </a:extLst>
            </p:cNvPr>
            <p:cNvSpPr/>
            <p:nvPr/>
          </p:nvSpPr>
          <p:spPr>
            <a:xfrm>
              <a:off x="0" y="0"/>
              <a:ext cx="912277" cy="734070"/>
            </a:xfrm>
            <a:custGeom>
              <a:avLst/>
              <a:gdLst/>
              <a:ahLst/>
              <a:cxnLst/>
              <a:rect l="l" t="t" r="r" b="b"/>
              <a:pathLst>
                <a:path w="912277" h="734070">
                  <a:moveTo>
                    <a:pt x="0" y="0"/>
                  </a:moveTo>
                  <a:lnTo>
                    <a:pt x="912277" y="0"/>
                  </a:lnTo>
                  <a:lnTo>
                    <a:pt x="912277" y="734070"/>
                  </a:lnTo>
                  <a:lnTo>
                    <a:pt x="0" y="734070"/>
                  </a:lnTo>
                  <a:close/>
                </a:path>
              </a:pathLst>
            </a:custGeom>
            <a:blipFill>
              <a:blip r:embed="rId2"/>
              <a:stretch>
                <a:fillRect t="-1179" b="-1179"/>
              </a:stretch>
            </a:blipFill>
          </p:spPr>
        </p:sp>
      </p:grpSp>
      <p:sp>
        <p:nvSpPr>
          <p:cNvPr id="5" name="Freeform 5">
            <a:extLst>
              <a:ext uri="{FF2B5EF4-FFF2-40B4-BE49-F238E27FC236}">
                <a16:creationId xmlns:a16="http://schemas.microsoft.com/office/drawing/2014/main" id="{D3F1D6CD-070D-575D-5C3A-81BB0DBB60DF}"/>
              </a:ext>
            </a:extLst>
          </p:cNvPr>
          <p:cNvSpPr/>
          <p:nvPr/>
        </p:nvSpPr>
        <p:spPr>
          <a:xfrm>
            <a:off x="16359884" y="566257"/>
            <a:ext cx="1798832" cy="811151"/>
          </a:xfrm>
          <a:custGeom>
            <a:avLst/>
            <a:gdLst/>
            <a:ahLst/>
            <a:cxnLst/>
            <a:rect l="l" t="t" r="r" b="b"/>
            <a:pathLst>
              <a:path w="1798832" h="811151">
                <a:moveTo>
                  <a:pt x="0" y="0"/>
                </a:moveTo>
                <a:lnTo>
                  <a:pt x="1798832" y="0"/>
                </a:lnTo>
                <a:lnTo>
                  <a:pt x="1798832" y="811151"/>
                </a:lnTo>
                <a:lnTo>
                  <a:pt x="0" y="811151"/>
                </a:lnTo>
                <a:lnTo>
                  <a:pt x="0" y="0"/>
                </a:lnTo>
                <a:close/>
              </a:path>
            </a:pathLst>
          </a:custGeom>
          <a:blipFill>
            <a:blip r:embed="rId3"/>
            <a:stretch>
              <a:fillRect l="-4113" r="-98552"/>
            </a:stretch>
          </a:blipFill>
        </p:spPr>
      </p:sp>
      <p:sp>
        <p:nvSpPr>
          <p:cNvPr id="7" name="TextBox 7">
            <a:extLst>
              <a:ext uri="{FF2B5EF4-FFF2-40B4-BE49-F238E27FC236}">
                <a16:creationId xmlns:a16="http://schemas.microsoft.com/office/drawing/2014/main" id="{8DA25039-AEEB-DF10-CB26-C0618C3D1DB8}"/>
              </a:ext>
            </a:extLst>
          </p:cNvPr>
          <p:cNvSpPr txBox="1"/>
          <p:nvPr/>
        </p:nvSpPr>
        <p:spPr>
          <a:xfrm>
            <a:off x="10591800" y="4872688"/>
            <a:ext cx="9372600" cy="541623"/>
          </a:xfrm>
          <a:prstGeom prst="rect">
            <a:avLst/>
          </a:prstGeom>
        </p:spPr>
        <p:txBody>
          <a:bodyPr wrap="square" lIns="0" tIns="0" rIns="0" bIns="0" rtlCol="0" anchor="t">
            <a:spAutoFit/>
          </a:bodyPr>
          <a:lstStyle/>
          <a:p>
            <a:pPr>
              <a:lnSpc>
                <a:spcPts val="3656"/>
              </a:lnSpc>
            </a:pPr>
            <a:r>
              <a:rPr lang="en-US" sz="6000" dirty="0">
                <a:solidFill>
                  <a:srgbClr val="FFFFFF"/>
                </a:solidFill>
                <a:latin typeface="Broadway" panose="04040905080B02020502" pitchFamily="82" charset="0"/>
                <a:ea typeface="HK Grotesk Bold"/>
                <a:cs typeface="HK Grotesk Bold"/>
                <a:sym typeface="HK Grotesk Bold"/>
              </a:rPr>
              <a:t>Thank you</a:t>
            </a:r>
          </a:p>
        </p:txBody>
      </p:sp>
      <p:pic>
        <p:nvPicPr>
          <p:cNvPr id="9" name="image69a922805448d" descr="image69a9228054491">
            <a:extLst>
              <a:ext uri="{FF2B5EF4-FFF2-40B4-BE49-F238E27FC236}">
                <a16:creationId xmlns:a16="http://schemas.microsoft.com/office/drawing/2014/main" id="{9C8B7B63-2E1E-5A00-B364-3BD1827BCCEA}"/>
              </a:ext>
            </a:extLst>
          </p:cNvPr>
          <p:cNvPicPr/>
          <p:nvPr/>
        </p:nvPicPr>
        <p:blipFill>
          <a:blip r:embed="rId4"/>
          <a:stretch/>
        </p:blipFill>
        <p:spPr>
          <a:xfrm>
            <a:off x="68456" y="114300"/>
            <a:ext cx="7475476" cy="10172700"/>
          </a:xfrm>
          <a:prstGeom prst="rect">
            <a:avLst/>
          </a:prstGeom>
          <a:noFill/>
          <a:ln w="0">
            <a:noFill/>
          </a:ln>
        </p:spPr>
      </p:pic>
    </p:spTree>
    <p:extLst>
      <p:ext uri="{BB962C8B-B14F-4D97-AF65-F5344CB8AC3E}">
        <p14:creationId xmlns:p14="http://schemas.microsoft.com/office/powerpoint/2010/main" val="4012050292"/>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166</TotalTime>
  <Words>625</Words>
  <Application>Microsoft Office PowerPoint</Application>
  <PresentationFormat>Custom</PresentationFormat>
  <Paragraphs>90</Paragraphs>
  <Slides>10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Wingdings</vt:lpstr>
      <vt:lpstr>Broadway</vt:lpstr>
      <vt:lpstr>HK Grotesk Bold</vt:lpstr>
      <vt:lpstr>Arial Narrow</vt:lpstr>
      <vt:lpstr>Arial</vt:lpstr>
      <vt:lpstr>Calibri</vt:lpstr>
      <vt:lpstr>Dubai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CheckPoint2</dc:title>
  <dc:creator>POOJA S</dc:creator>
  <cp:lastModifiedBy>POOJA S</cp:lastModifiedBy>
  <cp:revision>3</cp:revision>
  <dcterms:created xsi:type="dcterms:W3CDTF">2006-08-16T00:00:00Z</dcterms:created>
  <dcterms:modified xsi:type="dcterms:W3CDTF">2026-03-06T03:18:27Z</dcterms:modified>
  <dc:identifier>DAHDGdJM3Cw</dc:identifier>
</cp:coreProperties>
</file>